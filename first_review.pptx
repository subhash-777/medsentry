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65" r:id="rId2"/>
  </p:sldMasterIdLst>
  <p:notesMasterIdLst>
    <p:notesMasterId r:id="rId36"/>
  </p:notesMasterIdLst>
  <p:sldIdLst>
    <p:sldId id="296" r:id="rId3"/>
    <p:sldId id="335" r:id="rId4"/>
    <p:sldId id="362" r:id="rId5"/>
    <p:sldId id="363" r:id="rId6"/>
    <p:sldId id="364" r:id="rId7"/>
    <p:sldId id="365" r:id="rId8"/>
    <p:sldId id="366" r:id="rId9"/>
    <p:sldId id="368" r:id="rId10"/>
    <p:sldId id="369" r:id="rId11"/>
    <p:sldId id="370" r:id="rId12"/>
    <p:sldId id="367" r:id="rId13"/>
    <p:sldId id="264" r:id="rId14"/>
    <p:sldId id="371" r:id="rId15"/>
    <p:sldId id="372" r:id="rId16"/>
    <p:sldId id="373" r:id="rId17"/>
    <p:sldId id="374" r:id="rId18"/>
    <p:sldId id="375" r:id="rId19"/>
    <p:sldId id="376" r:id="rId20"/>
    <p:sldId id="377" r:id="rId21"/>
    <p:sldId id="378" r:id="rId22"/>
    <p:sldId id="381" r:id="rId23"/>
    <p:sldId id="382" r:id="rId24"/>
    <p:sldId id="379" r:id="rId25"/>
    <p:sldId id="380" r:id="rId26"/>
    <p:sldId id="383" r:id="rId27"/>
    <p:sldId id="386" r:id="rId28"/>
    <p:sldId id="387" r:id="rId29"/>
    <p:sldId id="388" r:id="rId30"/>
    <p:sldId id="389" r:id="rId31"/>
    <p:sldId id="390" r:id="rId32"/>
    <p:sldId id="391" r:id="rId33"/>
    <p:sldId id="353" r:id="rId34"/>
    <p:sldId id="319" r:id="rId35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123F"/>
    <a:srgbClr val="B90F50"/>
    <a:srgbClr val="DC3939"/>
    <a:srgbClr val="802121"/>
    <a:srgbClr val="F0466E"/>
    <a:srgbClr val="9B1347"/>
    <a:srgbClr val="056C50"/>
    <a:srgbClr val="0000FF"/>
    <a:srgbClr val="991346"/>
    <a:srgbClr val="4C4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33" dt="2026-08-22T13:50:32.212"/>
    <p1510:client id="{366E5952-F3E7-B825-3339-9E8B69EC99A6}" v="85" dt="2026-08-22T13:31:49.269"/>
    <p1510:client id="{52D1F178-9A91-6579-C2CA-114187B1ECAE}" v="66" dt="2026-08-21T04:47:44.384"/>
    <p1510:client id="{7440C14C-7B72-F395-0A40-7BAA4B1396CC}" v="1" dt="2026-08-21T16:26:23.738"/>
    <p1510:client id="{E65A5C87-C17B-4346-A2B2-EC8D572C4592}" v="568" dt="2026-08-21T00:51:19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8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1" y="4620578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8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7129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5C98A-B5B6-7CA1-82D5-A5ABBFFBA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199CB-3703-E45F-1CC3-097A76E50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275F3-FCC6-33D0-2388-BF94FE21F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E52A6-D6B9-1902-96DA-7C1DBA3A38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7085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3F398-50AE-36D9-8E86-510F7CF9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9498E-9305-F6DA-1A4B-3CFC53028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3FF8B-A06B-DC0A-76C3-818500CC8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3CA14-AAC3-5975-942E-D11BD4DD7C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1866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55FB-CFD1-09F8-FBA6-32002E33C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A61B8-7753-69DE-E8B1-9198E8C44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58708-5874-C1A5-8773-A66FDEA5A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C43BF-95C8-83D1-96F4-C943E00E9C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406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45073-37DC-DC14-4915-4D381381B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0DAD1-A853-9A84-0187-2865A3D46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16207-90A6-0949-6B19-0AC57A87B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0B157-5DB7-FA92-7FDA-9A5CC95067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1022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F2231-7BD5-E3AF-1F0B-3B44130E6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1C3FE-50BC-4B44-A470-D0282677F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FE79C-5DD1-DD96-84F9-255B7B2CE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FB2F2-B552-1702-DDEC-4FB1D216F4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4887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0D70B-9D4B-3C70-600F-A5488876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D26E0-DE41-C3DB-1689-5229ACBE8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031EE-EFCF-BB3A-134D-53CE1905D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E9092-5756-DC48-9131-A28FDB5907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6714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B5658-FC80-C973-F2E9-767B2364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0B52F-A453-DB35-2821-1753782A8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8B5CE-D66E-C280-B64C-9D146AA75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979B5-8A6D-38DB-F8A8-2F0D774319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5965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0D70B-9D4B-3C70-600F-A5488876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D26E0-DE41-C3DB-1689-5229ACBE8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031EE-EFCF-BB3A-134D-53CE1905D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E9092-5756-DC48-9131-A28FDB5907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6714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0D70B-9D4B-3C70-600F-A5488876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D26E0-DE41-C3DB-1689-5229ACBE8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031EE-EFCF-BB3A-134D-53CE1905D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E9092-5756-DC48-9131-A28FDB5907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6714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01448-058C-5D89-659B-217212A2A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07BC8-6775-32BE-8BF6-28FB50CCE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F8A9C-D5FF-8F87-A43A-502481C50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02622-7C4D-417C-579A-2A92D05F07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8597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2D5D8-72C1-53DE-C1B6-74B8AE9A2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15E1E-F473-9DD2-356B-D57CD3903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E49DE-D226-21C4-4A04-B775626F0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BF7DC-FCA9-27EA-60BA-F4CC191263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38352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881DD-F47C-5021-E38C-05B5BE345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6E1FF-D7A1-A586-1BB5-F982590C1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DEE4E-9177-B374-B891-CC6CEB87D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43CC2-3A42-0258-3218-312857C437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2661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D8DB1-982F-69D7-329B-93A72365B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FDB6D-5742-62D8-4DD5-D8B166459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90C0D-6C56-0FC1-D32D-B4297E2E5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B64AE-831C-470D-143C-6B3BF4EC45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8461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637AC-DF77-1262-C4E3-1B0FEEE0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E5A54-394D-2490-1A3F-1BABB386F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385B7-49B6-EB3B-0EED-F07B863D6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0E43C-767B-8EDC-CFFE-910B328B8C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2739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71C2C-D51E-5E81-93E6-212B9917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E4B82-1C3B-4182-287A-3333605D1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C71186-840B-28AF-60F9-054C8E11F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007F4-8140-08EC-F412-20137BC5CA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6325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A85DE-9BB2-58B4-DB10-4362094F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57754-B1E0-D217-AF14-852758219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F47FD-BFAC-194D-3750-8F0BF4068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12C08-1A51-9875-D377-C4CBD98BFD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56338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C9DB7-3591-354B-9AD0-325677932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DF79C-1592-18CA-7C58-68ABA9866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9F5DB-C05D-3825-A78E-21CD7B3F3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D16AA-98C0-321D-0AFC-410CD9E6B3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55011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1F3F7-CC59-F193-0C66-FAA6CDC1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9D416-0F39-CE2C-E172-561F90A79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8FBF5-8050-4FCC-F47E-C7EC60466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8C2BD-67B4-FE31-1CAB-DDE7EA087C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763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Blank">
  <p:cSld name="20_Blank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73" name="Google Shape;473;p6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4" name="Google Shape;474;p6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475" name="Google Shape;475;p6"/>
          <p:cNvGrpSpPr/>
          <p:nvPr/>
        </p:nvGrpSpPr>
        <p:grpSpPr>
          <a:xfrm>
            <a:off x="655527" y="416137"/>
            <a:ext cx="1121758" cy="1086289"/>
            <a:chOff x="4819650" y="1862134"/>
            <a:chExt cx="2558414" cy="3135659"/>
          </a:xfrm>
        </p:grpSpPr>
        <p:sp>
          <p:nvSpPr>
            <p:cNvPr id="476" name="Google Shape;476;p6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6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6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6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6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6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6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6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6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6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6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6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6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6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6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6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6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6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8" name="Google Shape;538;p6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539" name="Google Shape;539;p6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6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6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6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6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6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5" name="Google Shape;545;p6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8" name="Google Shape;548;p6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549" name="Google Shape;549;p6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6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6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6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6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6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6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6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6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6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59" name="Google Shape;559;p6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60" name="Google Shape;560;p6"/>
          <p:cNvGrpSpPr/>
          <p:nvPr/>
        </p:nvGrpSpPr>
        <p:grpSpPr>
          <a:xfrm>
            <a:off x="-8010120" y="6251576"/>
            <a:ext cx="22234031" cy="490550"/>
            <a:chOff x="-9757307" y="6258187"/>
            <a:chExt cx="21948698" cy="484255"/>
          </a:xfrm>
        </p:grpSpPr>
        <p:sp>
          <p:nvSpPr>
            <p:cNvPr id="561" name="Google Shape;561;p6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6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3" name="Google Shape;563;p6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564" name="Google Shape;564;p6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1" name="Google Shape;571;p6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572" name="Google Shape;572;p6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2" name="Google Shape;582;p6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583" name="Google Shape;583;p6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7" name="Google Shape;587;p6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588" name="Google Shape;588;p6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8" name="Google Shape;608;p6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09" name="Google Shape;609;p6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10" name="Google Shape;610;p6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11" name="Google Shape;611;p6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12" name="Google Shape;612;p6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13" name="Google Shape;613;p6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6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615" name="Google Shape;615;p6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616" name="Google Shape;616;p6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1" name="Google Shape;621;p6"/>
          <p:cNvSpPr>
            <a:spLocks noGrp="1"/>
          </p:cNvSpPr>
          <p:nvPr>
            <p:ph type="pic" idx="3"/>
          </p:nvPr>
        </p:nvSpPr>
        <p:spPr>
          <a:xfrm>
            <a:off x="945416" y="1511142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22" name="Google Shape;622;p6"/>
          <p:cNvSpPr txBox="1">
            <a:spLocks noGrp="1"/>
          </p:cNvSpPr>
          <p:nvPr>
            <p:ph type="body" idx="4"/>
          </p:nvPr>
        </p:nvSpPr>
        <p:spPr>
          <a:xfrm>
            <a:off x="2422630" y="1625442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3" name="Google Shape;623;p6"/>
          <p:cNvSpPr txBox="1">
            <a:spLocks noGrp="1"/>
          </p:cNvSpPr>
          <p:nvPr>
            <p:ph type="body" idx="5"/>
          </p:nvPr>
        </p:nvSpPr>
        <p:spPr>
          <a:xfrm>
            <a:off x="2422630" y="2006442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4" name="Google Shape;624;p6"/>
          <p:cNvSpPr>
            <a:spLocks noGrp="1"/>
          </p:cNvSpPr>
          <p:nvPr>
            <p:ph type="pic" idx="6"/>
          </p:nvPr>
        </p:nvSpPr>
        <p:spPr>
          <a:xfrm>
            <a:off x="933795" y="3027841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25" name="Google Shape;625;p6"/>
          <p:cNvSpPr txBox="1">
            <a:spLocks noGrp="1"/>
          </p:cNvSpPr>
          <p:nvPr>
            <p:ph type="body" idx="7"/>
          </p:nvPr>
        </p:nvSpPr>
        <p:spPr>
          <a:xfrm>
            <a:off x="2411009" y="3142141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6" name="Google Shape;626;p6"/>
          <p:cNvSpPr txBox="1">
            <a:spLocks noGrp="1"/>
          </p:cNvSpPr>
          <p:nvPr>
            <p:ph type="body" idx="8"/>
          </p:nvPr>
        </p:nvSpPr>
        <p:spPr>
          <a:xfrm>
            <a:off x="2411009" y="3523141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7" name="Google Shape;627;p6"/>
          <p:cNvSpPr>
            <a:spLocks noGrp="1"/>
          </p:cNvSpPr>
          <p:nvPr>
            <p:ph type="pic" idx="9"/>
          </p:nvPr>
        </p:nvSpPr>
        <p:spPr>
          <a:xfrm>
            <a:off x="933795" y="4571947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28" name="Google Shape;628;p6"/>
          <p:cNvSpPr txBox="1">
            <a:spLocks noGrp="1"/>
          </p:cNvSpPr>
          <p:nvPr>
            <p:ph type="body" idx="13"/>
          </p:nvPr>
        </p:nvSpPr>
        <p:spPr>
          <a:xfrm>
            <a:off x="2411009" y="4686247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9" name="Google Shape;629;p6"/>
          <p:cNvSpPr txBox="1">
            <a:spLocks noGrp="1"/>
          </p:cNvSpPr>
          <p:nvPr>
            <p:ph type="body" idx="14"/>
          </p:nvPr>
        </p:nvSpPr>
        <p:spPr>
          <a:xfrm>
            <a:off x="2411009" y="5067247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0" name="Google Shape;630;p6"/>
          <p:cNvSpPr>
            <a:spLocks noGrp="1"/>
          </p:cNvSpPr>
          <p:nvPr>
            <p:ph type="pic" idx="15"/>
          </p:nvPr>
        </p:nvSpPr>
        <p:spPr>
          <a:xfrm>
            <a:off x="6055143" y="1520779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1" name="Google Shape;631;p6"/>
          <p:cNvSpPr txBox="1">
            <a:spLocks noGrp="1"/>
          </p:cNvSpPr>
          <p:nvPr>
            <p:ph type="body" idx="16"/>
          </p:nvPr>
        </p:nvSpPr>
        <p:spPr>
          <a:xfrm>
            <a:off x="7532357" y="1635079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2" name="Google Shape;632;p6"/>
          <p:cNvSpPr txBox="1">
            <a:spLocks noGrp="1"/>
          </p:cNvSpPr>
          <p:nvPr>
            <p:ph type="body" idx="17"/>
          </p:nvPr>
        </p:nvSpPr>
        <p:spPr>
          <a:xfrm>
            <a:off x="7532357" y="2016079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3" name="Google Shape;633;p6"/>
          <p:cNvSpPr>
            <a:spLocks noGrp="1"/>
          </p:cNvSpPr>
          <p:nvPr>
            <p:ph type="pic" idx="18"/>
          </p:nvPr>
        </p:nvSpPr>
        <p:spPr>
          <a:xfrm>
            <a:off x="6043522" y="3037478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4" name="Google Shape;634;p6"/>
          <p:cNvSpPr txBox="1">
            <a:spLocks noGrp="1"/>
          </p:cNvSpPr>
          <p:nvPr>
            <p:ph type="body" idx="19"/>
          </p:nvPr>
        </p:nvSpPr>
        <p:spPr>
          <a:xfrm>
            <a:off x="7520736" y="3151778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5" name="Google Shape;635;p6"/>
          <p:cNvSpPr txBox="1">
            <a:spLocks noGrp="1"/>
          </p:cNvSpPr>
          <p:nvPr>
            <p:ph type="body" idx="20"/>
          </p:nvPr>
        </p:nvSpPr>
        <p:spPr>
          <a:xfrm>
            <a:off x="7520736" y="3532778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6" name="Google Shape;636;p6"/>
          <p:cNvSpPr>
            <a:spLocks noGrp="1"/>
          </p:cNvSpPr>
          <p:nvPr>
            <p:ph type="pic" idx="21"/>
          </p:nvPr>
        </p:nvSpPr>
        <p:spPr>
          <a:xfrm>
            <a:off x="6043522" y="4581584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7" name="Google Shape;637;p6"/>
          <p:cNvSpPr txBox="1">
            <a:spLocks noGrp="1"/>
          </p:cNvSpPr>
          <p:nvPr>
            <p:ph type="body" idx="22"/>
          </p:nvPr>
        </p:nvSpPr>
        <p:spPr>
          <a:xfrm>
            <a:off x="7520736" y="4695884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8" name="Google Shape;638;p6"/>
          <p:cNvSpPr txBox="1">
            <a:spLocks noGrp="1"/>
          </p:cNvSpPr>
          <p:nvPr>
            <p:ph type="body" idx="23"/>
          </p:nvPr>
        </p:nvSpPr>
        <p:spPr>
          <a:xfrm>
            <a:off x="7520736" y="5076884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9" name="Google Shape;639;p6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Blank">
  <p:cSld name="14_Blank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42" name="Google Shape;642;p7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3" name="Google Shape;643;p7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644" name="Google Shape;644;p7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645" name="Google Shape;645;p7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7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7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7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7" name="Google Shape;707;p7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708" name="Google Shape;708;p7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7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7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7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7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7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4" name="Google Shape;714;p7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7" name="Google Shape;717;p7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718" name="Google Shape;718;p7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7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7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7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7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7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7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7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7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7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28" name="Google Shape;728;p7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29" name="Google Shape;729;p7"/>
          <p:cNvGrpSpPr/>
          <p:nvPr/>
        </p:nvGrpSpPr>
        <p:grpSpPr>
          <a:xfrm>
            <a:off x="-6152069" y="6251576"/>
            <a:ext cx="22234031" cy="490550"/>
            <a:chOff x="-9757307" y="6258187"/>
            <a:chExt cx="21948698" cy="484255"/>
          </a:xfrm>
        </p:grpSpPr>
        <p:sp>
          <p:nvSpPr>
            <p:cNvPr id="730" name="Google Shape;730;p7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2" name="Google Shape;732;p7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733" name="Google Shape;733;p7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0" name="Google Shape;740;p7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741" name="Google Shape;741;p7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1" name="Google Shape;751;p7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752" name="Google Shape;752;p7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6" name="Google Shape;756;p7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757" name="Google Shape;757;p7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7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7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7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7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7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7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7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7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7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7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7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7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7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7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7" name="Google Shape;777;p7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78" name="Google Shape;778;p7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79" name="Google Shape;779;p7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80" name="Google Shape;780;p7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81" name="Google Shape;781;p7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82" name="Google Shape;782;p7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7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784" name="Google Shape;784;p7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785" name="Google Shape;785;p7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7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7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7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7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0" name="Google Shape;790;p7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Blank">
  <p:cSld name="19_Blank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8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93" name="Google Shape;793;p8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4" name="Google Shape;794;p8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795" name="Google Shape;795;p8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796" name="Google Shape;796;p8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8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8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8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8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8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8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8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8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8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8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8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8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8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8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8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8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8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8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8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8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8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8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8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8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8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8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8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8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8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8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8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8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8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8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8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8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8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8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8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8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8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8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8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8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8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8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8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8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8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8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8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8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8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8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8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8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8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8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8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8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8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58" name="Google Shape;858;p8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859" name="Google Shape;859;p8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65" name="Google Shape;865;p8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8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8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68" name="Google Shape;868;p8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869" name="Google Shape;869;p8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79" name="Google Shape;879;p8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80" name="Google Shape;880;p8"/>
          <p:cNvGrpSpPr/>
          <p:nvPr/>
        </p:nvGrpSpPr>
        <p:grpSpPr>
          <a:xfrm>
            <a:off x="-6152069" y="6251576"/>
            <a:ext cx="22234031" cy="490550"/>
            <a:chOff x="-9757307" y="6258187"/>
            <a:chExt cx="21948698" cy="484255"/>
          </a:xfrm>
        </p:grpSpPr>
        <p:sp>
          <p:nvSpPr>
            <p:cNvPr id="881" name="Google Shape;881;p8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8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3" name="Google Shape;883;p8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884" name="Google Shape;884;p8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8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8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8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8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8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8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1" name="Google Shape;891;p8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892" name="Google Shape;892;p8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8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8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8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8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8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8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8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8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8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2" name="Google Shape;902;p8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903" name="Google Shape;903;p8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8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8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8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7" name="Google Shape;907;p8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908" name="Google Shape;908;p8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8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8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8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8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8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8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8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8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8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8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8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8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8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8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8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8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8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8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8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8" name="Google Shape;928;p8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29" name="Google Shape;929;p8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30" name="Google Shape;930;p8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31" name="Google Shape;931;p8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32" name="Google Shape;932;p8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33" name="Google Shape;933;p8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8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935" name="Google Shape;935;p8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936" name="Google Shape;936;p8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1" name="Google Shape;941;p8"/>
          <p:cNvSpPr>
            <a:spLocks noGrp="1"/>
          </p:cNvSpPr>
          <p:nvPr>
            <p:ph type="pic" idx="3"/>
          </p:nvPr>
        </p:nvSpPr>
        <p:spPr>
          <a:xfrm>
            <a:off x="655638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2" name="Google Shape;942;p8"/>
          <p:cNvSpPr>
            <a:spLocks noGrp="1"/>
          </p:cNvSpPr>
          <p:nvPr>
            <p:ph type="pic" idx="4"/>
          </p:nvPr>
        </p:nvSpPr>
        <p:spPr>
          <a:xfrm>
            <a:off x="2946406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3" name="Google Shape;943;p8"/>
          <p:cNvSpPr>
            <a:spLocks noGrp="1"/>
          </p:cNvSpPr>
          <p:nvPr>
            <p:ph type="pic" idx="5"/>
          </p:nvPr>
        </p:nvSpPr>
        <p:spPr>
          <a:xfrm>
            <a:off x="5237174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4" name="Google Shape;944;p8"/>
          <p:cNvSpPr>
            <a:spLocks noGrp="1"/>
          </p:cNvSpPr>
          <p:nvPr>
            <p:ph type="pic" idx="6"/>
          </p:nvPr>
        </p:nvSpPr>
        <p:spPr>
          <a:xfrm>
            <a:off x="7527942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5" name="Google Shape;945;p8"/>
          <p:cNvSpPr>
            <a:spLocks noGrp="1"/>
          </p:cNvSpPr>
          <p:nvPr>
            <p:ph type="pic" idx="7"/>
          </p:nvPr>
        </p:nvSpPr>
        <p:spPr>
          <a:xfrm>
            <a:off x="9818710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6" name="Google Shape;946;p8"/>
          <p:cNvSpPr>
            <a:spLocks noGrp="1"/>
          </p:cNvSpPr>
          <p:nvPr>
            <p:ph type="pic" idx="8"/>
          </p:nvPr>
        </p:nvSpPr>
        <p:spPr>
          <a:xfrm>
            <a:off x="655638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7" name="Google Shape;947;p8"/>
          <p:cNvSpPr>
            <a:spLocks noGrp="1"/>
          </p:cNvSpPr>
          <p:nvPr>
            <p:ph type="pic" idx="9"/>
          </p:nvPr>
        </p:nvSpPr>
        <p:spPr>
          <a:xfrm>
            <a:off x="2946406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8" name="Google Shape;948;p8"/>
          <p:cNvSpPr>
            <a:spLocks noGrp="1"/>
          </p:cNvSpPr>
          <p:nvPr>
            <p:ph type="pic" idx="13"/>
          </p:nvPr>
        </p:nvSpPr>
        <p:spPr>
          <a:xfrm>
            <a:off x="5237174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9" name="Google Shape;949;p8"/>
          <p:cNvSpPr>
            <a:spLocks noGrp="1"/>
          </p:cNvSpPr>
          <p:nvPr>
            <p:ph type="pic" idx="14"/>
          </p:nvPr>
        </p:nvSpPr>
        <p:spPr>
          <a:xfrm>
            <a:off x="7527942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50" name="Google Shape;950;p8"/>
          <p:cNvSpPr>
            <a:spLocks noGrp="1"/>
          </p:cNvSpPr>
          <p:nvPr>
            <p:ph type="pic" idx="15"/>
          </p:nvPr>
        </p:nvSpPr>
        <p:spPr>
          <a:xfrm>
            <a:off x="9818710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51" name="Google Shape;951;p8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Blank">
  <p:cSld name="15_Blank"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9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54" name="Google Shape;954;p9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5" name="Google Shape;955;p9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956" name="Google Shape;956;p9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957" name="Google Shape;957;p9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9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9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9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9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9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9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9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9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9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9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9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9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9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9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9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9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9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9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9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9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9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9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9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9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9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9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9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9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9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9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9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9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9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9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9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9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9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9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9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9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9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9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9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9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9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9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9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9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9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9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9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9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9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9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9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9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9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9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9" name="Google Shape;1019;p9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020" name="Google Shape;1020;p9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9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9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9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9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9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6" name="Google Shape;1026;p9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9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9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9" name="Google Shape;1029;p9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030" name="Google Shape;1030;p9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9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9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9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9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9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9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9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9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9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40" name="Google Shape;1040;p9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041" name="Google Shape;1041;p9"/>
          <p:cNvGrpSpPr/>
          <p:nvPr/>
        </p:nvGrpSpPr>
        <p:grpSpPr>
          <a:xfrm>
            <a:off x="-4232698" y="6251576"/>
            <a:ext cx="22234031" cy="490550"/>
            <a:chOff x="-9757307" y="6258187"/>
            <a:chExt cx="21948698" cy="484255"/>
          </a:xfrm>
        </p:grpSpPr>
        <p:sp>
          <p:nvSpPr>
            <p:cNvPr id="1042" name="Google Shape;1042;p9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9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4" name="Google Shape;1044;p9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045" name="Google Shape;1045;p9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9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9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9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9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9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2" name="Google Shape;1052;p9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053" name="Google Shape;1053;p9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9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9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9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9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9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9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9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9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9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3" name="Google Shape;1063;p9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064" name="Google Shape;1064;p9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9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9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9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8" name="Google Shape;1068;p9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069" name="Google Shape;1069;p9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9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9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9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9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9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9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9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9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9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9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9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9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9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9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9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9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9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9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9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9" name="Google Shape;1089;p9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0" name="Google Shape;1090;p9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1" name="Google Shape;1091;p9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2" name="Google Shape;1092;p9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3" name="Google Shape;1093;p9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4" name="Google Shape;1094;p9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9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096" name="Google Shape;1096;p9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097" name="Google Shape;1097;p9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9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9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9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2" name="Google Shape;1102;p9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Blank">
  <p:cSld name="16_Blank"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0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105" name="Google Shape;1105;p10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06" name="Google Shape;1106;p10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107" name="Google Shape;1107;p10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108" name="Google Shape;1108;p10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10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10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10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10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10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10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10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10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10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10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10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10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10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10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10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10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10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10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10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10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10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10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10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10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10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10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10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10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10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10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10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10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10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10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10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10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10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10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10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10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10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10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10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10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10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10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10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10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10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10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10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10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10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10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10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10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10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10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10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10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10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0" name="Google Shape;1170;p10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171" name="Google Shape;1171;p10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10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10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10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10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10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7" name="Google Shape;1177;p10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10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10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80" name="Google Shape;1180;p10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181" name="Google Shape;1181;p10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10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10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10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10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10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10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8" name="Google Shape;1188;p10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10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10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191" name="Google Shape;1191;p10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192" name="Google Shape;1192;p10"/>
          <p:cNvGrpSpPr/>
          <p:nvPr/>
        </p:nvGrpSpPr>
        <p:grpSpPr>
          <a:xfrm>
            <a:off x="-2313494" y="6251576"/>
            <a:ext cx="22234031" cy="490550"/>
            <a:chOff x="-9757307" y="6258187"/>
            <a:chExt cx="21948698" cy="484255"/>
          </a:xfrm>
        </p:grpSpPr>
        <p:sp>
          <p:nvSpPr>
            <p:cNvPr id="1193" name="Google Shape;1193;p10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10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5" name="Google Shape;1195;p10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196" name="Google Shape;1196;p10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10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10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10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10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10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10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3" name="Google Shape;1203;p10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204" name="Google Shape;1204;p10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10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10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10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10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10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10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10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10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10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4" name="Google Shape;1214;p10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215" name="Google Shape;1215;p10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10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10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10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9" name="Google Shape;1219;p10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220" name="Google Shape;1220;p10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10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10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10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10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10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10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10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10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10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10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10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10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10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10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10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10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10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10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10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0" name="Google Shape;1240;p10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1" name="Google Shape;1241;p10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2" name="Google Shape;1242;p10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3" name="Google Shape;1243;p10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4" name="Google Shape;1244;p10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5" name="Google Shape;1245;p10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10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247" name="Google Shape;1247;p10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248" name="Google Shape;1248;p10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10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10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10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10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3" name="Google Shape;1253;p10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Blank">
  <p:cSld name="17_Blank"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1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56" name="Google Shape;1256;p11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7" name="Google Shape;1257;p11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258" name="Google Shape;1258;p11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259" name="Google Shape;1259;p11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11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11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11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11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11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11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11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11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11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11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11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11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11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11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11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11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11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11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11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11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11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11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11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11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11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11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11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11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11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11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11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11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11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11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11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11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11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11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11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11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11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11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11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11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11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11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11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11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11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11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11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11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11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11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11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11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11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11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11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11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11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1" name="Google Shape;1321;p11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322" name="Google Shape;1322;p11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11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11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11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11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11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8" name="Google Shape;1328;p11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11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11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1" name="Google Shape;1331;p11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332" name="Google Shape;1332;p11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1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1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1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1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11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11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11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11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11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342" name="Google Shape;1342;p11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343" name="Google Shape;1343;p11"/>
          <p:cNvGrpSpPr/>
          <p:nvPr/>
        </p:nvGrpSpPr>
        <p:grpSpPr>
          <a:xfrm>
            <a:off x="-256094" y="6251576"/>
            <a:ext cx="22234031" cy="490550"/>
            <a:chOff x="-9757307" y="6258187"/>
            <a:chExt cx="21948698" cy="484255"/>
          </a:xfrm>
        </p:grpSpPr>
        <p:sp>
          <p:nvSpPr>
            <p:cNvPr id="1344" name="Google Shape;1344;p11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1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6" name="Google Shape;1346;p11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347" name="Google Shape;1347;p11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11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11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11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11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11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11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4" name="Google Shape;1354;p11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355" name="Google Shape;1355;p11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11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11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11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11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11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11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1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11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11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5" name="Google Shape;1365;p11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366" name="Google Shape;1366;p11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11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11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0" name="Google Shape;1370;p11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371" name="Google Shape;1371;p11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11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11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11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11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11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11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11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11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11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11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11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1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1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11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11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11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11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11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11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1" name="Google Shape;1391;p11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2" name="Google Shape;1392;p11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3" name="Google Shape;1393;p11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4" name="Google Shape;1394;p11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5" name="Google Shape;1395;p11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6" name="Google Shape;1396;p11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11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398" name="Google Shape;1398;p11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399" name="Google Shape;1399;p11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11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11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11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11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4" name="Google Shape;1404;p11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3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11" name="Google Shape;1411;p13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2" name="Google Shape;1412;p13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413" name="Google Shape;1413;p13"/>
          <p:cNvGrpSpPr/>
          <p:nvPr/>
        </p:nvGrpSpPr>
        <p:grpSpPr>
          <a:xfrm>
            <a:off x="4751008" y="3267337"/>
            <a:ext cx="928575" cy="1111479"/>
            <a:chOff x="4819650" y="1862134"/>
            <a:chExt cx="2558414" cy="3135659"/>
          </a:xfrm>
        </p:grpSpPr>
        <p:sp>
          <p:nvSpPr>
            <p:cNvPr id="1414" name="Google Shape;1414;p13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13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13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13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13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13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13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13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13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13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13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13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13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13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3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3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3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13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13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13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13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13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3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13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13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13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13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13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13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13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13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13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13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13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13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13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13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13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13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13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13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13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13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13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13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13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13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13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13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13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13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13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13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13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13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13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13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13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13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13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13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13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76" name="Google Shape;1476;p13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477" name="Google Shape;1477;p13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8" name="Google Shape;1478;p13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9" name="Google Shape;1479;p13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0" name="Google Shape;1480;p13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1" name="Google Shape;1481;p13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2" name="Google Shape;1482;p13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3" name="Google Shape;1483;p13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13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13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86" name="Google Shape;1486;p13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487" name="Google Shape;1487;p13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8" name="Google Shape;1488;p13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9" name="Google Shape;1489;p13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13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1" name="Google Shape;1491;p13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2" name="Google Shape;1492;p13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13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13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5" name="Google Shape;1495;p13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6" name="Google Shape;1496;p13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497" name="Google Shape;1497;p13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8" name="Google Shape;1498;p13"/>
          <p:cNvSpPr/>
          <p:nvPr/>
        </p:nvSpPr>
        <p:spPr>
          <a:xfrm>
            <a:off x="0" y="6727473"/>
            <a:ext cx="12192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02;p6"/>
          <p:cNvSpPr/>
          <p:nvPr userDrawn="1"/>
        </p:nvSpPr>
        <p:spPr>
          <a:xfrm>
            <a:off x="1248517" y="997225"/>
            <a:ext cx="228103" cy="61375"/>
          </a:xfrm>
          <a:custGeom>
            <a:avLst/>
            <a:gdLst/>
            <a:ahLst/>
            <a:cxnLst/>
            <a:rect l="l" t="t" r="r" b="b"/>
            <a:pathLst>
              <a:path w="520239" h="177164" extrusionOk="0">
                <a:moveTo>
                  <a:pt x="167746" y="80010"/>
                </a:moveTo>
                <a:cubicBezTo>
                  <a:pt x="158221" y="80010"/>
                  <a:pt x="146791" y="78105"/>
                  <a:pt x="134408" y="76200"/>
                </a:cubicBezTo>
                <a:cubicBezTo>
                  <a:pt x="121073" y="74295"/>
                  <a:pt x="105833" y="71438"/>
                  <a:pt x="90593" y="71438"/>
                </a:cubicBezTo>
                <a:cubicBezTo>
                  <a:pt x="86783" y="71438"/>
                  <a:pt x="82973" y="71438"/>
                  <a:pt x="79163" y="71438"/>
                </a:cubicBezTo>
                <a:cubicBezTo>
                  <a:pt x="60113" y="71438"/>
                  <a:pt x="42968" y="73342"/>
                  <a:pt x="29633" y="77152"/>
                </a:cubicBezTo>
                <a:cubicBezTo>
                  <a:pt x="10583" y="81915"/>
                  <a:pt x="-17992" y="106680"/>
                  <a:pt x="15346" y="134302"/>
                </a:cubicBezTo>
                <a:cubicBezTo>
                  <a:pt x="42968" y="161925"/>
                  <a:pt x="103928" y="177165"/>
                  <a:pt x="188701" y="177165"/>
                </a:cubicBezTo>
                <a:cubicBezTo>
                  <a:pt x="241088" y="177165"/>
                  <a:pt x="297286" y="171450"/>
                  <a:pt x="351578" y="160020"/>
                </a:cubicBezTo>
                <a:lnTo>
                  <a:pt x="357293" y="159067"/>
                </a:lnTo>
                <a:cubicBezTo>
                  <a:pt x="426826" y="144780"/>
                  <a:pt x="483023" y="122872"/>
                  <a:pt x="506836" y="101917"/>
                </a:cubicBezTo>
                <a:lnTo>
                  <a:pt x="509693" y="99060"/>
                </a:lnTo>
                <a:cubicBezTo>
                  <a:pt x="515408" y="93345"/>
                  <a:pt x="519218" y="87630"/>
                  <a:pt x="520171" y="81915"/>
                </a:cubicBezTo>
                <a:cubicBezTo>
                  <a:pt x="521123" y="72390"/>
                  <a:pt x="513503" y="48577"/>
                  <a:pt x="415396" y="23813"/>
                </a:cubicBezTo>
                <a:cubicBezTo>
                  <a:pt x="357293" y="9525"/>
                  <a:pt x="279188" y="0"/>
                  <a:pt x="211561" y="0"/>
                </a:cubicBezTo>
                <a:lnTo>
                  <a:pt x="207751" y="0"/>
                </a:lnTo>
                <a:cubicBezTo>
                  <a:pt x="146791" y="0"/>
                  <a:pt x="113453" y="6667"/>
                  <a:pt x="99166" y="15240"/>
                </a:cubicBezTo>
                <a:cubicBezTo>
                  <a:pt x="96308" y="17145"/>
                  <a:pt x="93451" y="19050"/>
                  <a:pt x="92498" y="20955"/>
                </a:cubicBezTo>
                <a:cubicBezTo>
                  <a:pt x="91546" y="22860"/>
                  <a:pt x="90593" y="26670"/>
                  <a:pt x="91546" y="30480"/>
                </a:cubicBezTo>
                <a:cubicBezTo>
                  <a:pt x="101071" y="53340"/>
                  <a:pt x="140123" y="59055"/>
                  <a:pt x="175366" y="59055"/>
                </a:cubicBezTo>
                <a:cubicBezTo>
                  <a:pt x="195368" y="60007"/>
                  <a:pt x="194416" y="68580"/>
                  <a:pt x="190606" y="72390"/>
                </a:cubicBezTo>
                <a:cubicBezTo>
                  <a:pt x="183938" y="79057"/>
                  <a:pt x="174413" y="80010"/>
                  <a:pt x="167746" y="80010"/>
                </a:cubicBezTo>
                <a:close/>
              </a:path>
            </a:pathLst>
          </a:custGeom>
          <a:solidFill>
            <a:srgbClr val="7570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4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01" name="Google Shape;1501;p14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2" name="Google Shape;1502;p14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503" name="Google Shape;1503;p14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504" name="Google Shape;1504;p14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14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14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14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14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14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14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14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14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14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14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14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14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14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14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14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14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14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14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14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14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14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14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14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14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14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14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14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14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14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14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14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14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14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14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14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14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14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14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14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14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14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14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14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14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14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14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14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14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14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14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14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14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14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14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1559;p14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1560;p14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1561;p14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14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14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14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14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66" name="Google Shape;1566;p14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567" name="Google Shape;1567;p14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14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569;p14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0" name="Google Shape;1570;p14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1" name="Google Shape;1571;p14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572;p14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73" name="Google Shape;1573;p14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14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14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76" name="Google Shape;1576;p14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577" name="Google Shape;1577;p14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14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14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14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14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14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3" name="Google Shape;1583;p14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14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14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14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587" name="Google Shape;1587;p14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6"/>
          <p:cNvSpPr txBox="1">
            <a:spLocks noGrp="1"/>
          </p:cNvSpPr>
          <p:nvPr>
            <p:ph type="body" idx="1"/>
          </p:nvPr>
        </p:nvSpPr>
        <p:spPr>
          <a:xfrm>
            <a:off x="1695450" y="1212369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689" name="Google Shape;1689;p16"/>
          <p:cNvCxnSpPr/>
          <p:nvPr/>
        </p:nvCxnSpPr>
        <p:spPr>
          <a:xfrm>
            <a:off x="1760217" y="1678783"/>
            <a:ext cx="10146600" cy="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0" name="Google Shape;1690;p16"/>
          <p:cNvSpPr txBox="1">
            <a:spLocks noGrp="1"/>
          </p:cNvSpPr>
          <p:nvPr>
            <p:ph type="body" idx="2"/>
          </p:nvPr>
        </p:nvSpPr>
        <p:spPr>
          <a:xfrm>
            <a:off x="1682750" y="757655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1" name="Google Shape;1691;p16"/>
          <p:cNvSpPr>
            <a:spLocks noGrp="1"/>
          </p:cNvSpPr>
          <p:nvPr>
            <p:ph type="pic" idx="3"/>
          </p:nvPr>
        </p:nvSpPr>
        <p:spPr>
          <a:xfrm>
            <a:off x="1760538" y="1857375"/>
            <a:ext cx="7259700" cy="3201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5_Custom Layout"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4" name="Google Shape;169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" y="6705600"/>
            <a:ext cx="12218975" cy="1535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18"/>
          <p:cNvSpPr txBox="1">
            <a:spLocks noGrp="1"/>
          </p:cNvSpPr>
          <p:nvPr>
            <p:ph type="title"/>
          </p:nvPr>
        </p:nvSpPr>
        <p:spPr>
          <a:xfrm>
            <a:off x="1172437" y="414757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53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cxnSp>
        <p:nvCxnSpPr>
          <p:cNvPr id="1696" name="Google Shape;1696;p18"/>
          <p:cNvCxnSpPr/>
          <p:nvPr/>
        </p:nvCxnSpPr>
        <p:spPr>
          <a:xfrm>
            <a:off x="419101" y="1257196"/>
            <a:ext cx="110493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7" name="Google Shape;1697;p18"/>
          <p:cNvPicPr preferRelativeResize="0"/>
          <p:nvPr/>
        </p:nvPicPr>
        <p:blipFill rotWithShape="1">
          <a:blip r:embed="rId3"/>
          <a:srcRect r="81454" b="8517"/>
          <a:stretch>
            <a:fillRect/>
          </a:stretch>
        </p:blipFill>
        <p:spPr>
          <a:xfrm>
            <a:off x="419101" y="414757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8" name="Google Shape;1698;p18"/>
          <p:cNvCxnSpPr/>
          <p:nvPr/>
        </p:nvCxnSpPr>
        <p:spPr>
          <a:xfrm>
            <a:off x="1126279" y="414756"/>
            <a:ext cx="0" cy="703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9" name="Google Shape;1699;p18"/>
          <p:cNvSpPr txBox="1">
            <a:spLocks noGrp="1"/>
          </p:cNvSpPr>
          <p:nvPr>
            <p:ph type="body" idx="1"/>
          </p:nvPr>
        </p:nvSpPr>
        <p:spPr>
          <a:xfrm>
            <a:off x="1172439" y="812801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2400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 1 1">
  <p:cSld name="4_Custom Layout 1"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7" name="Google Shape;1717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" y="6284784"/>
            <a:ext cx="12218981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2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04389" y="6389103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21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lvl="1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lvl="2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lvl="3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lvl="4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lvl="5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lvl="6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lvl="7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lvl="8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20" name="Google Shape;1720;p21"/>
          <p:cNvSpPr txBox="1">
            <a:spLocks noGrp="1"/>
          </p:cNvSpPr>
          <p:nvPr>
            <p:ph type="title"/>
          </p:nvPr>
        </p:nvSpPr>
        <p:spPr>
          <a:xfrm>
            <a:off x="1248637" y="757654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21" name="Google Shape;1721;p21"/>
          <p:cNvCxnSpPr/>
          <p:nvPr/>
        </p:nvCxnSpPr>
        <p:spPr>
          <a:xfrm>
            <a:off x="495301" y="1600096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22" name="Google Shape;1722;p21"/>
          <p:cNvPicPr preferRelativeResize="0"/>
          <p:nvPr/>
        </p:nvPicPr>
        <p:blipFill rotWithShape="1">
          <a:blip r:embed="rId4"/>
          <a:srcRect r="81454" b="8525"/>
          <a:stretch>
            <a:fillRect/>
          </a:stretch>
        </p:blipFill>
        <p:spPr>
          <a:xfrm>
            <a:off x="495301" y="757657"/>
            <a:ext cx="583356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3" name="Google Shape;1723;p21"/>
          <p:cNvCxnSpPr/>
          <p:nvPr/>
        </p:nvCxnSpPr>
        <p:spPr>
          <a:xfrm>
            <a:off x="1202479" y="757655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Custom Layout_1"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5" name="Google Shape;1725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73413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9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9pPr>
          </a:lstStyle>
          <a:p>
            <a:endParaRPr/>
          </a:p>
        </p:txBody>
      </p:sp>
      <p:sp>
        <p:nvSpPr>
          <p:cNvPr id="1727" name="Google Shape;17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9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9pPr>
          </a:lstStyle>
          <a:p>
            <a:endParaRPr/>
          </a:p>
        </p:txBody>
      </p:sp>
      <p:cxnSp>
        <p:nvCxnSpPr>
          <p:cNvPr id="1729" name="Google Shape;1729;p22"/>
          <p:cNvCxnSpPr/>
          <p:nvPr/>
        </p:nvCxnSpPr>
        <p:spPr>
          <a:xfrm>
            <a:off x="2462213" y="3143250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30" name="Google Shape;1730;p22"/>
          <p:cNvSpPr txBox="1">
            <a:spLocks noGrp="1"/>
          </p:cNvSpPr>
          <p:nvPr>
            <p:ph type="ctrTitle"/>
          </p:nvPr>
        </p:nvSpPr>
        <p:spPr>
          <a:xfrm>
            <a:off x="0" y="3143293"/>
            <a:ext cx="12192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1" name="Google Shape;1731;p22"/>
          <p:cNvSpPr txBox="1">
            <a:spLocks noGrp="1"/>
          </p:cNvSpPr>
          <p:nvPr>
            <p:ph type="subTitle" idx="1"/>
          </p:nvPr>
        </p:nvSpPr>
        <p:spPr>
          <a:xfrm>
            <a:off x="0" y="3858604"/>
            <a:ext cx="12192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732" name="Google Shape;1732;p2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187040" y="1902157"/>
            <a:ext cx="3817920" cy="858362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22"/>
          <p:cNvSpPr txBox="1"/>
          <p:nvPr/>
        </p:nvSpPr>
        <p:spPr>
          <a:xfrm>
            <a:off x="0" y="6533916"/>
            <a:ext cx="1219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 panose="020B0604020202090204"/>
              <a:buNone/>
            </a:pPr>
            <a:r>
              <a:rPr lang="en-US" sz="11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AMARAVATI | AMRITAPURI | BENGALURU |</a:t>
            </a:r>
            <a:r>
              <a:rPr lang="en-US" sz="1100" b="1" i="0" u="none" strike="noStrike" cap="none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CHENNAI</a:t>
            </a:r>
            <a:r>
              <a:rPr lang="en-US" sz="11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| COIMBATORE | FARIDABAD | KOCHI | MYSURU | NAGARCOIL</a:t>
            </a:r>
            <a:endParaRPr sz="1100" b="0" i="0" u="none" strike="noStrike" cap="none">
              <a:solidFill>
                <a:schemeClr val="accent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931900" y="2760663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8_Custom Layout">
    <p:bg>
      <p:bgPr>
        <a:solidFill>
          <a:schemeClr val="bg1"/>
        </a:solidFill>
        <a:effectLst/>
      </p:bgPr>
    </p:bg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23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38" name="Google Shape;1738;p23"/>
          <p:cNvSpPr txBox="1">
            <a:spLocks noGrp="1"/>
          </p:cNvSpPr>
          <p:nvPr>
            <p:ph type="title"/>
          </p:nvPr>
        </p:nvSpPr>
        <p:spPr>
          <a:xfrm>
            <a:off x="1248636" y="180603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39" name="Google Shape;1739;p23"/>
          <p:cNvCxnSpPr/>
          <p:nvPr/>
        </p:nvCxnSpPr>
        <p:spPr>
          <a:xfrm>
            <a:off x="495300" y="1129577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0" name="Google Shape;1740;p23"/>
          <p:cNvPicPr preferRelativeResize="0"/>
          <p:nvPr/>
        </p:nvPicPr>
        <p:blipFill rotWithShape="1">
          <a:blip r:embed="rId2">
            <a:duotone>
              <a:prstClr val="black"/>
              <a:srgbClr val="A4123F">
                <a:tint val="45000"/>
                <a:satMod val="400000"/>
              </a:srgbClr>
            </a:duotone>
          </a:blip>
          <a:srcRect r="81454" b="8517"/>
          <a:stretch>
            <a:fillRect/>
          </a:stretch>
        </p:blipFill>
        <p:spPr>
          <a:xfrm>
            <a:off x="495300" y="176714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1" name="Google Shape;1741;p23"/>
          <p:cNvCxnSpPr/>
          <p:nvPr/>
        </p:nvCxnSpPr>
        <p:spPr>
          <a:xfrm>
            <a:off x="1149212" y="181160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2" name="Google Shape;1742;p23"/>
          <p:cNvSpPr txBox="1">
            <a:spLocks noGrp="1"/>
          </p:cNvSpPr>
          <p:nvPr>
            <p:ph type="body" idx="1"/>
          </p:nvPr>
        </p:nvSpPr>
        <p:spPr>
          <a:xfrm>
            <a:off x="1248636" y="605283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3" name="Google Shape;1743;p23"/>
          <p:cNvSpPr txBox="1">
            <a:spLocks noGrp="1"/>
          </p:cNvSpPr>
          <p:nvPr>
            <p:ph type="body" idx="2"/>
          </p:nvPr>
        </p:nvSpPr>
        <p:spPr>
          <a:xfrm>
            <a:off x="495301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>
                <a:solidFill>
                  <a:srgbClr val="7F7F7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 preserve="1">
  <p:cSld name="8_Custom Layout"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5" name="Google Shape;1735;p23"/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1" y="6284781"/>
            <a:ext cx="12192000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6" name="Google Shape;1736;p23"/>
          <p:cNvPicPr preferRelativeResize="0"/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10404388" y="6389102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23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38" name="Google Shape;1738;p23"/>
          <p:cNvSpPr txBox="1">
            <a:spLocks noGrp="1"/>
          </p:cNvSpPr>
          <p:nvPr>
            <p:ph type="title"/>
          </p:nvPr>
        </p:nvSpPr>
        <p:spPr>
          <a:xfrm>
            <a:off x="1248636" y="180603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39" name="Google Shape;1739;p23"/>
          <p:cNvCxnSpPr/>
          <p:nvPr/>
        </p:nvCxnSpPr>
        <p:spPr>
          <a:xfrm>
            <a:off x="495300" y="1129577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0" name="Google Shape;1740;p23"/>
          <p:cNvPicPr preferRelativeResize="0"/>
          <p:nvPr/>
        </p:nvPicPr>
        <p:blipFill rotWithShape="1">
          <a:blip r:embed="rId4">
            <a:duotone>
              <a:prstClr val="black"/>
              <a:srgbClr val="B90F50">
                <a:tint val="45000"/>
                <a:satMod val="400000"/>
              </a:srgbClr>
            </a:duotone>
          </a:blip>
          <a:srcRect r="81454" b="8517"/>
          <a:stretch>
            <a:fillRect/>
          </a:stretch>
        </p:blipFill>
        <p:spPr>
          <a:xfrm>
            <a:off x="495300" y="176714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1" name="Google Shape;1741;p23"/>
          <p:cNvCxnSpPr/>
          <p:nvPr/>
        </p:nvCxnSpPr>
        <p:spPr>
          <a:xfrm>
            <a:off x="1149212" y="181160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2" name="Google Shape;1742;p23"/>
          <p:cNvSpPr txBox="1">
            <a:spLocks noGrp="1"/>
          </p:cNvSpPr>
          <p:nvPr>
            <p:ph type="body" idx="1"/>
          </p:nvPr>
        </p:nvSpPr>
        <p:spPr>
          <a:xfrm>
            <a:off x="1248636" y="605283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3" name="Google Shape;1743;p23"/>
          <p:cNvSpPr txBox="1">
            <a:spLocks noGrp="1"/>
          </p:cNvSpPr>
          <p:nvPr>
            <p:ph type="body" idx="2"/>
          </p:nvPr>
        </p:nvSpPr>
        <p:spPr>
          <a:xfrm>
            <a:off x="495301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>
                <a:solidFill>
                  <a:srgbClr val="7F7F7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549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77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sv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5" y="3191830"/>
            <a:ext cx="12192000" cy="1128048"/>
          </a:xfrm>
        </p:spPr>
        <p:txBody>
          <a:bodyPr/>
          <a:lstStyle/>
          <a:p>
            <a: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Department  of </a:t>
            </a:r>
            <a:b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Computer Science &amp; Engineering</a:t>
            </a:r>
            <a:r>
              <a:rPr lang="en-IN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07220" y="4189559"/>
            <a:ext cx="12192000" cy="777000"/>
          </a:xfrm>
        </p:spPr>
        <p:txBody>
          <a:bodyPr/>
          <a:lstStyle/>
          <a:p>
            <a:endParaRPr lang="en-IN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Amrita School of Computing </a:t>
            </a:r>
          </a:p>
          <a:p>
            <a:r>
              <a:rPr lang="en-IN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Amrita Vishwa Vidyapeetham, Chennai Campus</a:t>
            </a:r>
          </a:p>
        </p:txBody>
      </p:sp>
      <p:cxnSp>
        <p:nvCxnSpPr>
          <p:cNvPr id="6" name="Google Shape;1729;p22"/>
          <p:cNvCxnSpPr/>
          <p:nvPr/>
        </p:nvCxnSpPr>
        <p:spPr>
          <a:xfrm>
            <a:off x="2462213" y="4425783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TextBox 6"/>
          <p:cNvSpPr txBox="1"/>
          <p:nvPr/>
        </p:nvSpPr>
        <p:spPr>
          <a:xfrm>
            <a:off x="6239435" y="111610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3856990" y="170751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935" y="348615"/>
            <a:ext cx="4635500" cy="1358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692275"/>
            <a:ext cx="5743575" cy="1359535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-299" y="2214880"/>
            <a:ext cx="12192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r>
              <a:rPr lang="en-US" sz="3200" err="1"/>
              <a:t>LyASC</a:t>
            </a:r>
            <a:r>
              <a:rPr lang="en-US" sz="3200"/>
              <a:t>: Lyapunov-Aware Skip Connections for Stability-Driven Residual Networks</a:t>
            </a:r>
            <a:endParaRPr lang="en-IN" sz="3200"/>
          </a:p>
        </p:txBody>
      </p:sp>
      <p:sp>
        <p:nvSpPr>
          <p:cNvPr id="15" name="Text Box 14"/>
          <p:cNvSpPr txBox="1"/>
          <p:nvPr/>
        </p:nvSpPr>
        <p:spPr>
          <a:xfrm>
            <a:off x="143510" y="4778375"/>
            <a:ext cx="6096000" cy="10772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IN" sz="1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Student Members </a:t>
            </a:r>
          </a:p>
          <a:p>
            <a:endParaRPr lang="en-US" altLang="en-IN" sz="1600" b="1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r>
              <a:rPr lang="en-US" altLang="en-IN" sz="1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1: Subhash R – CH.SC.U4AIE23054</a:t>
            </a:r>
          </a:p>
          <a:p>
            <a:r>
              <a:rPr lang="en-US" altLang="en-IN" sz="1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2: Veena Sundari A – CH.SC.U4AIE23060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8611235" y="4905375"/>
            <a:ext cx="35807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en-IN" sz="1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Guide Details</a:t>
            </a:r>
          </a:p>
          <a:p>
            <a:pPr algn="l"/>
            <a:endParaRPr lang="en-US" altLang="en-IN" sz="1600" b="1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algn="l"/>
            <a:r>
              <a:rPr lang="en-US" altLang="en-IN" sz="1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Dr. Rithani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Project Title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rgbClr val="FFC000"/>
                </a:solidFill>
                <a:latin typeface="Cambria"/>
                <a:ea typeface="Cambria"/>
                <a:cs typeface="Times New Roman" panose="02020503050405090304"/>
              </a:rPr>
              <a:t>Project Title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Motivation and 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of the Project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Analysis on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Insights from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Research Gap</a:t>
            </a:r>
            <a:endParaRPr lang="en-IN" sz="12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Objectives, Scope of the Project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Workflow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Literature Review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B731AE-5C46-B625-699C-8F478BBAA129}"/>
              </a:ext>
            </a:extLst>
          </p:cNvPr>
          <p:cNvSpPr txBox="1"/>
          <p:nvPr/>
        </p:nvSpPr>
        <p:spPr>
          <a:xfrm>
            <a:off x="2587099" y="1338101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algn="just"/>
            <a:r>
              <a:rPr lang="en-US" sz="1800" b="1">
                <a:solidFill>
                  <a:schemeClr val="tx1"/>
                </a:solidFill>
              </a:rPr>
              <a:t>Project Title</a:t>
            </a:r>
            <a:r>
              <a:rPr lang="en-US" sz="1800">
                <a:solidFill>
                  <a:schemeClr val="tx1"/>
                </a:solidFill>
              </a:rPr>
              <a:t>: Lyapunov-Aware Skip Connections for Stability-Driven Residual Networks</a:t>
            </a: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r>
              <a:rPr lang="en-US" sz="1800" b="1">
                <a:solidFill>
                  <a:schemeClr val="tx1"/>
                </a:solidFill>
              </a:rPr>
              <a:t>Domain of Work</a:t>
            </a:r>
            <a:r>
              <a:rPr lang="en-US" sz="1800">
                <a:solidFill>
                  <a:schemeClr val="tx1"/>
                </a:solidFill>
              </a:rPr>
              <a:t>: Deep Learning, Residual Networks, Optimization &amp; Stability Analysis</a:t>
            </a:r>
          </a:p>
          <a:p>
            <a:pPr algn="just"/>
            <a:endParaRPr lang="en-US" sz="1800">
              <a:solidFill>
                <a:schemeClr val="tx1"/>
              </a:solidFill>
            </a:endParaRPr>
          </a:p>
          <a:p>
            <a:pPr algn="just"/>
            <a:r>
              <a:rPr lang="en-US" sz="1800" b="1">
                <a:solidFill>
                  <a:schemeClr val="tx1"/>
                </a:solidFill>
              </a:rPr>
              <a:t>Core Focus</a:t>
            </a:r>
            <a:r>
              <a:rPr lang="en-US" sz="1800">
                <a:solidFill>
                  <a:schemeClr val="tx1"/>
                </a:solidFill>
              </a:rPr>
              <a:t>: </a:t>
            </a:r>
            <a:r>
              <a:rPr lang="en-US" sz="1800" err="1">
                <a:solidFill>
                  <a:schemeClr val="tx1"/>
                </a:solidFill>
              </a:rPr>
              <a:t>LyASC</a:t>
            </a:r>
            <a:r>
              <a:rPr lang="en-US" sz="1800">
                <a:solidFill>
                  <a:schemeClr val="tx1"/>
                </a:solidFill>
              </a:rPr>
              <a:t> introduces a stability-driven adaptive skip connection that dynamically controls the contribution of the identity pathway based on a local Lyapunov-inspired instability signal. The project investigates whether stability-aware skip control can provide more reliable gradient propagation, optimization stability and generalization than fixed skip-scaling and normalization strategies.</a:t>
            </a:r>
          </a:p>
          <a:p>
            <a:pPr algn="just"/>
            <a:endParaRPr lang="en-US" sz="1800">
              <a:solidFill>
                <a:schemeClr val="tx1"/>
              </a:solidFill>
            </a:endParaRPr>
          </a:p>
          <a:p>
            <a:pPr algn="just"/>
            <a:r>
              <a:rPr lang="en-US" sz="1800" b="1">
                <a:solidFill>
                  <a:schemeClr val="tx1"/>
                </a:solidFill>
              </a:rPr>
              <a:t>Current Progress:</a:t>
            </a:r>
          </a:p>
          <a:p>
            <a:pPr algn="just"/>
            <a:r>
              <a:rPr lang="en-US" sz="1800">
                <a:solidFill>
                  <a:schemeClr val="tx1"/>
                </a:solidFill>
              </a:rPr>
              <a:t>Base-paper architecture reproduced → Gradient </a:t>
            </a:r>
            <a:r>
              <a:rPr lang="en-US" sz="1800" err="1">
                <a:solidFill>
                  <a:schemeClr val="tx1"/>
                </a:solidFill>
              </a:rPr>
              <a:t>behaviour</a:t>
            </a:r>
            <a:r>
              <a:rPr lang="en-US" sz="1800">
                <a:solidFill>
                  <a:schemeClr val="tx1"/>
                </a:solidFill>
              </a:rPr>
              <a:t> </a:t>
            </a:r>
            <a:r>
              <a:rPr lang="en-US" sz="1800" err="1">
                <a:solidFill>
                  <a:schemeClr val="tx1"/>
                </a:solidFill>
              </a:rPr>
              <a:t>analysed</a:t>
            </a:r>
            <a:r>
              <a:rPr lang="en-US" sz="1800">
                <a:solidFill>
                  <a:schemeClr val="tx1"/>
                </a:solidFill>
              </a:rPr>
              <a:t> → Research gap identified → </a:t>
            </a:r>
            <a:r>
              <a:rPr lang="en-US" sz="1800" err="1">
                <a:solidFill>
                  <a:schemeClr val="tx1"/>
                </a:solidFill>
              </a:rPr>
              <a:t>LyASC</a:t>
            </a:r>
            <a:r>
              <a:rPr lang="en-US" sz="1800">
                <a:solidFill>
                  <a:schemeClr val="tx1"/>
                </a:solidFill>
              </a:rPr>
              <a:t> mechanism formulation in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E73AD-7AC1-6D04-E99B-FA7EBA974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F58C-C79D-DCDA-D786-11B98955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Motivation and Problem Statement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111F8E-F7B5-327B-7D27-84104A050CC1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BC2B3E1-AA3C-54DC-731C-B4780E59E257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2307A83C-4445-71A4-1FF6-D175BA032977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132EFA-1ADE-BBE6-7D24-7907708242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5AD94AE-DB95-EC44-2974-1D0D1AD5904E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Project Title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rgbClr val="FFC000"/>
                </a:solidFill>
                <a:latin typeface="Cambria"/>
                <a:ea typeface="Cambria"/>
                <a:cs typeface="Times New Roman" panose="02020503050405090304"/>
              </a:rPr>
              <a:t>Motivation and 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of the Project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Analysis on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Insights from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Research Gap</a:t>
            </a:r>
            <a:endParaRPr lang="en-IN" sz="12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Objectives, Scope of the Project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Workflow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Literature Review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FD7676-5C90-53AA-25D4-53AD425E8C16}"/>
              </a:ext>
            </a:extLst>
          </p:cNvPr>
          <p:cNvSpPr txBox="1"/>
          <p:nvPr/>
        </p:nvSpPr>
        <p:spPr>
          <a:xfrm>
            <a:off x="2587099" y="1863049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40502050405090303"/>
              <a:buChar char="•"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Skip connections are fundamental to deep residual networks, but their contribution is generally controlled using fixed scaling factors.</a:t>
            </a:r>
            <a:endParaRPr lang="en-US"/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40502050405090303"/>
              <a:buChar char="•"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Our reproduction of the base paper shows that changing skip strength from 0.5× to 1× and 2× can substantially alter layer-wise gradient propagation.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40502050405090303"/>
              <a:buChar char="•"/>
            </a:pPr>
            <a:r>
              <a:rPr lang="en-US" altLang="en-US" sz="1800">
                <a:solidFill>
                  <a:schemeClr val="tx1"/>
                </a:solidFill>
              </a:rPr>
              <a:t>Layer Normalization can mitigate some unstable gradient </a:t>
            </a:r>
            <a:r>
              <a:rPr lang="en-US" altLang="en-US" sz="1800" err="1">
                <a:solidFill>
                  <a:schemeClr val="tx1"/>
                </a:solidFill>
              </a:rPr>
              <a:t>behaviour</a:t>
            </a:r>
            <a:r>
              <a:rPr lang="en-US" altLang="en-US" sz="1800">
                <a:solidFill>
                  <a:schemeClr val="tx1"/>
                </a:solidFill>
              </a:rPr>
              <a:t>, but it does not explicitly measure or control the underlying local stability of each residual block.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40502050405090303"/>
              <a:buChar char="•"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Existing adaptive/gated skip methods already exist, but their gates are primarily feature/content-driven, rather than driven by an explicit stability signal.</a:t>
            </a: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This motivates the question: </a:t>
            </a:r>
            <a:r>
              <a:rPr lang="en-US" altLang="en-US" sz="1800" b="1">
                <a:solidFill>
                  <a:schemeClr val="tx1"/>
                </a:solidFill>
                <a:latin typeface="Georgia" panose="02040502050405020303" pitchFamily="18" charset="0"/>
              </a:rPr>
              <a:t>How can skip connections be dynamically controlled to maintain stable information and gradient propagation throughout a deep residual network?</a:t>
            </a: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800" b="1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>
                <a:solidFill>
                  <a:schemeClr val="tx1"/>
                </a:solidFill>
                <a:latin typeface="Georgia" panose="02040502050405020303" pitchFamily="18" charset="0"/>
              </a:rPr>
              <a:t>Current limitation: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Existing approaches mainly use fixed skip coefficients and/or normalization, rather than explicitly optimizing skip </a:t>
            </a:r>
            <a:r>
              <a:rPr lang="en-US" altLang="en-US" sz="1800" dirty="0" err="1">
                <a:solidFill>
                  <a:schemeClr val="tx1"/>
                </a:solidFill>
              </a:rPr>
              <a:t>behaviour</a:t>
            </a:r>
            <a:r>
              <a:rPr lang="en-US" altLang="en-US" sz="1800" dirty="0">
                <a:solidFill>
                  <a:schemeClr val="tx1"/>
                </a:solidFill>
              </a:rPr>
              <a:t> according to a stability criterion.</a:t>
            </a:r>
          </a:p>
        </p:txBody>
      </p:sp>
    </p:spTree>
    <p:extLst>
      <p:ext uri="{BB962C8B-B14F-4D97-AF65-F5344CB8AC3E}">
        <p14:creationId xmlns:p14="http://schemas.microsoft.com/office/powerpoint/2010/main" val="2012280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A6230-8E56-CAB9-85ED-641E5CF61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E8082-A3C1-0CDE-CBFE-BF22436A0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Significance of the Project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F82E8-58B7-CF5F-839B-373C768A128C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ED685B-56E9-53A2-E836-87DD545ECA78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DEFAC177-FE5C-A20E-A8DE-DD15F812F6DC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B5BBB0-4960-D867-F08D-2BF8E40EF7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F7AD103D-7A0C-8B26-7D55-277F08C97A97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Project Title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Motivation and 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of the Project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Analysis on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Insights from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Research Gap</a:t>
            </a:r>
            <a:endParaRPr lang="en-IN" sz="12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Objectives, Scope of the Project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Workflow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Literature Review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 (Gantt Chart)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CCC84B9-F209-3697-5E6A-CBC2AE859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426262"/>
              </p:ext>
            </p:extLst>
          </p:nvPr>
        </p:nvGraphicFramePr>
        <p:xfrm>
          <a:off x="2686050" y="1238250"/>
          <a:ext cx="8627489" cy="38363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1049">
                  <a:extLst>
                    <a:ext uri="{9D8B030D-6E8A-4147-A177-3AD203B41FA5}">
                      <a16:colId xmlns:a16="http://schemas.microsoft.com/office/drawing/2014/main" val="1081710960"/>
                    </a:ext>
                  </a:extLst>
                </a:gridCol>
                <a:gridCol w="6346440">
                  <a:extLst>
                    <a:ext uri="{9D8B030D-6E8A-4147-A177-3AD203B41FA5}">
                      <a16:colId xmlns:a16="http://schemas.microsoft.com/office/drawing/2014/main" val="1624863066"/>
                    </a:ext>
                  </a:extLst>
                </a:gridCol>
              </a:tblGrid>
              <a:tr h="285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Aspect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Significance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881122"/>
                  </a:ext>
                </a:extLst>
              </a:tr>
              <a:tr h="694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Stability-Driven Design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Makes </a:t>
                      </a:r>
                      <a:r>
                        <a:rPr lang="en-US" b="1"/>
                        <a:t>training stability</a:t>
                      </a:r>
                      <a:r>
                        <a:rPr lang="en-US"/>
                        <a:t> an explicit architectural objective rather than an indirect outcome.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171525"/>
                  </a:ext>
                </a:extLst>
              </a:tr>
              <a:tr h="694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Adaptive Skip Control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Dynamically adjusts skip contribution according to </a:t>
                      </a:r>
                      <a:r>
                        <a:rPr lang="en-US" b="1" dirty="0"/>
                        <a:t>local block </a:t>
                      </a:r>
                      <a:r>
                        <a:rPr lang="en-US" b="1" dirty="0" err="1"/>
                        <a:t>behaviour</a:t>
                      </a:r>
                      <a:r>
                        <a:rPr lang="en-US" dirty="0"/>
                        <a:t> instead of using only fixed scaling.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542004"/>
                  </a:ext>
                </a:extLst>
              </a:tr>
              <a:tr h="694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Gradient Regulation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Targets </a:t>
                      </a:r>
                      <a:r>
                        <a:rPr lang="en-US" b="1"/>
                        <a:t>vanishing, exploding and highly uneven gradient propagation</a:t>
                      </a:r>
                      <a:r>
                        <a:rPr lang="en-US" dirty="0"/>
                        <a:t> </a:t>
                      </a:r>
                      <a:r>
                        <a:rPr lang="en-US"/>
                        <a:t>across network depth.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229638"/>
                  </a:ext>
                </a:extLst>
              </a:tr>
              <a:tr h="694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Research Contribution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Connects </a:t>
                      </a:r>
                      <a:r>
                        <a:rPr lang="en-US" b="1"/>
                        <a:t>Lyapunov-inspired dynamical analysis</a:t>
                      </a:r>
                      <a:r>
                        <a:rPr lang="en-US"/>
                        <a:t> with </a:t>
                      </a:r>
                      <a:r>
                        <a:rPr lang="en-US" b="1"/>
                        <a:t>adaptive residual-network architecture</a:t>
                      </a:r>
                      <a:r>
                        <a:rPr lang="en-US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325327"/>
                  </a:ext>
                </a:extLst>
              </a:tr>
              <a:tr h="694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Falsifiable Evaluation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Directly compares </a:t>
                      </a:r>
                      <a:r>
                        <a:rPr lang="en-US" dirty="0" err="1"/>
                        <a:t>LyASC</a:t>
                      </a:r>
                      <a:r>
                        <a:rPr lang="en-US" dirty="0"/>
                        <a:t> against </a:t>
                      </a:r>
                      <a:r>
                        <a:rPr lang="en-US" b="1" dirty="0"/>
                        <a:t>fixed-skip, normalization and gradient-driven adaptive gates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0245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5713C33-313E-862E-62F1-03816C6E3B86}"/>
              </a:ext>
            </a:extLst>
          </p:cNvPr>
          <p:cNvSpPr txBox="1"/>
          <p:nvPr/>
        </p:nvSpPr>
        <p:spPr>
          <a:xfrm>
            <a:off x="2686050" y="5233722"/>
            <a:ext cx="89581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Georgia" panose="02040502050405020303" pitchFamily="18" charset="0"/>
              </a:rPr>
              <a:t>Note: </a:t>
            </a:r>
            <a:r>
              <a:rPr lang="en-IO" sz="1800">
                <a:latin typeface="Georgia" panose="02040502050405020303" pitchFamily="18" charset="0"/>
              </a:rPr>
              <a:t>the project does </a:t>
            </a:r>
            <a:r>
              <a:rPr lang="en-IO" sz="1800" b="1">
                <a:latin typeface="Georgia" panose="02040502050405020303" pitchFamily="18" charset="0"/>
              </a:rPr>
              <a:t>not</a:t>
            </a:r>
            <a:r>
              <a:rPr lang="en-IO" sz="1800">
                <a:latin typeface="Georgia" panose="02040502050405020303" pitchFamily="18" charset="0"/>
              </a:rPr>
              <a:t> claim that adaptive or gated skip connections are new; the proposed contribution is the </a:t>
            </a:r>
            <a:r>
              <a:rPr lang="en-IO" sz="1800" b="1">
                <a:latin typeface="Georgia" panose="02040502050405020303" pitchFamily="18" charset="0"/>
              </a:rPr>
              <a:t>stability-driven control signal used to actuate the skip strength</a:t>
            </a:r>
            <a:r>
              <a:rPr lang="en-IO" sz="1800">
                <a:latin typeface="Georgia" panose="020405020504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9988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A99FD-9ED2-0AAC-93EA-81E9A6BBA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358D7-CEC3-30C5-E090-7F051DA43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Analysis on Base Paper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6B8FAB-7941-98B8-4127-5823A84B700A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BE1CD8E-1223-1466-AEB6-DB1FE6E2A462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8CC0C308-60D8-598E-6DB4-6DBD908CB8F4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EF5F006-67C3-D7FD-B71F-F92D961BED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7CED6B0-2D52-A91C-37C8-410A6B08E0FA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Project Title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Motivation and 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of the Project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rgbClr val="FFC000"/>
                </a:solidFill>
                <a:latin typeface="Cambria"/>
                <a:ea typeface="Cambria"/>
                <a:cs typeface="Times New Roman" panose="02020503050405090304"/>
              </a:rPr>
              <a:t>Analysis on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Insights from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Research Gap</a:t>
            </a:r>
            <a:endParaRPr lang="en-IN" sz="12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Objectives, Scope of the Project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Workflow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Literature Review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6DB0F8-49FA-3AEA-F3AC-522DC2FB9720}"/>
              </a:ext>
            </a:extLst>
          </p:cNvPr>
          <p:cNvSpPr txBox="1"/>
          <p:nvPr/>
        </p:nvSpPr>
        <p:spPr>
          <a:xfrm>
            <a:off x="2587099" y="-961525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>
                <a:solidFill>
                  <a:schemeClr val="tx1"/>
                </a:solidFill>
                <a:latin typeface="Georgia" panose="02040502050405020303" pitchFamily="18" charset="0"/>
              </a:rPr>
              <a:t>Experimental Setup Reproduced:</a:t>
            </a: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PreAct-ResNet-110 + CIFAR-10 with the paper's skip/normalization variants and layer-wise gradient analysis. The paper formulates residual blocks approximately as: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y=G(</a:t>
            </a:r>
            <a:r>
              <a:rPr lang="en-US" altLang="en-US" sz="1800" err="1">
                <a:solidFill>
                  <a:schemeClr val="tx1"/>
                </a:solidFill>
                <a:latin typeface="Georgia" panose="02040502050405020303" pitchFamily="18" charset="0"/>
              </a:rPr>
              <a:t>λx+F</a:t>
            </a: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(</a:t>
            </a:r>
            <a:r>
              <a:rPr lang="en-US" altLang="en-US" sz="1800" err="1">
                <a:solidFill>
                  <a:schemeClr val="tx1"/>
                </a:solidFill>
                <a:latin typeface="Georgia" panose="02040502050405020303" pitchFamily="18" charset="0"/>
              </a:rPr>
              <a:t>x,W</a:t>
            </a: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))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where λ controls skip strength.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A2F6E1-5099-49ED-6658-8A751E6C1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288899"/>
              </p:ext>
            </p:extLst>
          </p:nvPr>
        </p:nvGraphicFramePr>
        <p:xfrm>
          <a:off x="2587099" y="2813377"/>
          <a:ext cx="7599317" cy="2499360"/>
        </p:xfrm>
        <a:graphic>
          <a:graphicData uri="http://schemas.openxmlformats.org/drawingml/2006/table">
            <a:tbl>
              <a:tblPr/>
              <a:tblGrid>
                <a:gridCol w="2624981">
                  <a:extLst>
                    <a:ext uri="{9D8B030D-6E8A-4147-A177-3AD203B41FA5}">
                      <a16:colId xmlns:a16="http://schemas.microsoft.com/office/drawing/2014/main" val="2017773472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35215154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sz="1800" b="1"/>
                        <a:t>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sz="1800" b="1"/>
                        <a:t>Reproduced Gradient Behaviour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066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1×Skip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Gradual gradient decrease with depth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531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2×Skip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Rapid gradient decay → </a:t>
                      </a:r>
                      <a:r>
                        <a:rPr lang="en-IO" b="1"/>
                        <a:t>vanishing tendency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389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0.5×Skip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Irregular propagation + strong final-block spike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778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2×Skip + BN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Relatively uniform gradient magnitudes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075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1×Skip + LN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Controlled gradients with late-depth increase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134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2×Skip + LN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More controlled depth-wise gradient behaviour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106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2rSkip + LN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Controlled growth but strong final-layer spike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13976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739BE48-1510-2881-0C44-C0E994758CDF}"/>
              </a:ext>
            </a:extLst>
          </p:cNvPr>
          <p:cNvSpPr txBox="1"/>
          <p:nvPr/>
        </p:nvSpPr>
        <p:spPr>
          <a:xfrm>
            <a:off x="2587099" y="5395274"/>
            <a:ext cx="93730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O" sz="1800"/>
              <a:t>The reproduction therefore confirms the central observation that </a:t>
            </a:r>
            <a:r>
              <a:rPr lang="en-IO" sz="1800" b="1"/>
              <a:t>skip scaling and normalization substantially affect gradient dynamics</a:t>
            </a:r>
            <a:r>
              <a:rPr lang="en-IO" sz="1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1930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55541-9DDF-12AA-0906-4F283C7A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6AF38-74AB-AA71-9C9A-D855056DC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Insights from Base Paper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AC40AB-25C9-AE51-BFD1-29B4BDBA9FF6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3F61AC-2C82-F432-D07A-35608B64FCB6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4CD638EA-14A1-299E-5A5A-917CAEF9A165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DEDF2DF-64E6-ED59-FC3B-5A5CB10E3C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FE938ED0-B989-FC9E-149E-49B9DC6C5112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Project Title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Motivation and 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of the Project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Analysis on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rgbClr val="FFC000"/>
                </a:solidFill>
                <a:latin typeface="Cambria"/>
                <a:ea typeface="Cambria"/>
                <a:cs typeface="Times New Roman" panose="02020503050405090304"/>
              </a:rPr>
              <a:t>Insights from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Research Gap</a:t>
            </a:r>
            <a:endParaRPr lang="en-IN" sz="12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Objectives, Scope of the Project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Workflow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Literature Review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E15A83-E9D4-024B-58C9-EC53E48BDC04}"/>
              </a:ext>
            </a:extLst>
          </p:cNvPr>
          <p:cNvSpPr txBox="1"/>
          <p:nvPr/>
        </p:nvSpPr>
        <p:spPr>
          <a:xfrm>
            <a:off x="2560929" y="2164261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lvl="0"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>
                <a:solidFill>
                  <a:schemeClr val="tx1"/>
                </a:solidFill>
              </a:rPr>
              <a:t>Key Insight:</a:t>
            </a:r>
            <a:endParaRPr lang="en-US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The base paper establishes that skip strength is a critical control variable; </a:t>
            </a:r>
            <a:r>
              <a:rPr lang="en-US" altLang="en-US" sz="1800" dirty="0" err="1">
                <a:solidFill>
                  <a:schemeClr val="tx1"/>
                </a:solidFill>
              </a:rPr>
              <a:t>LyASC</a:t>
            </a:r>
            <a:r>
              <a:rPr lang="en-US" altLang="en-US" sz="1800" dirty="0">
                <a:solidFill>
                  <a:schemeClr val="tx1"/>
                </a:solidFill>
              </a:rPr>
              <a:t> investigates whether this variable can be controlled using an explicit stability signal.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4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The base paper's experiments therefore become the experimental foundation and baseline family for </a:t>
            </a:r>
            <a:r>
              <a:rPr lang="en-US" altLang="en-US" sz="1800" dirty="0" err="1">
                <a:solidFill>
                  <a:schemeClr val="tx1"/>
                </a:solidFill>
              </a:rPr>
              <a:t>LyASC</a:t>
            </a:r>
            <a:r>
              <a:rPr lang="en-US" altLang="en-US" sz="1800" dirty="0">
                <a:solidFill>
                  <a:schemeClr val="tx1"/>
                </a:solidFill>
              </a:rPr>
              <a:t> rather than merely serving as background literature.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6051A3-30F9-7ACE-9CE7-1A7AC3BD1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418341"/>
              </p:ext>
            </p:extLst>
          </p:nvPr>
        </p:nvGraphicFramePr>
        <p:xfrm>
          <a:off x="2560929" y="1278749"/>
          <a:ext cx="9513639" cy="3048000"/>
        </p:xfrm>
        <a:graphic>
          <a:graphicData uri="http://schemas.openxmlformats.org/drawingml/2006/table">
            <a:tbl>
              <a:tblPr/>
              <a:tblGrid>
                <a:gridCol w="3576577">
                  <a:extLst>
                    <a:ext uri="{9D8B030D-6E8A-4147-A177-3AD203B41FA5}">
                      <a16:colId xmlns:a16="http://schemas.microsoft.com/office/drawing/2014/main" val="3500520658"/>
                    </a:ext>
                  </a:extLst>
                </a:gridCol>
                <a:gridCol w="5937062">
                  <a:extLst>
                    <a:ext uri="{9D8B030D-6E8A-4147-A177-3AD203B41FA5}">
                      <a16:colId xmlns:a16="http://schemas.microsoft.com/office/drawing/2014/main" val="3287771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sz="1800" b="1"/>
                        <a:t>Observation</a:t>
                      </a:r>
                      <a:endParaRPr lang="en-US" sz="1800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sz="1800" b="1" dirty="0"/>
                        <a:t>Insight for </a:t>
                      </a:r>
                      <a:r>
                        <a:rPr lang="en-IO" sz="1800" b="1" dirty="0" err="1"/>
                        <a:t>LyASC</a:t>
                      </a:r>
                      <a:endParaRPr lang="en-US" sz="1800" b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849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2×Skip → rapid decay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Larger skip strength can produce </a:t>
                      </a:r>
                      <a:r>
                        <a:rPr lang="en-IO" b="1"/>
                        <a:t>unstable gradient propagation</a:t>
                      </a:r>
                      <a:r>
                        <a:rPr lang="en-IO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790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0.5×Skip → irregular profile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Smaller fixed scaling can also create </a:t>
                      </a:r>
                      <a:r>
                        <a:rPr lang="en-IO" b="1"/>
                        <a:t>non-uniform dynamics</a:t>
                      </a:r>
                      <a:r>
                        <a:rPr lang="en-IO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352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LN improves several configurations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Normalization can regulate gradients but is </a:t>
                      </a:r>
                      <a:r>
                        <a:rPr lang="en-IO" b="1"/>
                        <a:t>not an explicit stability controller</a:t>
                      </a:r>
                      <a:r>
                        <a:rPr lang="en-IO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93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Late-layer gradient spikes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Average gradient magnitude alone is insufficient; </a:t>
                      </a:r>
                      <a:r>
                        <a:rPr lang="en-IO" b="1"/>
                        <a:t>depth-wise stability must be monitored</a:t>
                      </a:r>
                      <a:r>
                        <a:rPr lang="en-IO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857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2rSkip+LN performs strongly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Adaptive/effective skip ratios can improve optimization, motivating </a:t>
                      </a:r>
                      <a:r>
                        <a:rPr lang="en-IO" b="1"/>
                        <a:t>dynamic skip control</a:t>
                      </a:r>
                      <a:r>
                        <a:rPr lang="en-IO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062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 dirty="0" err="1"/>
                        <a:t>wSkip+LN</a:t>
                      </a:r>
                      <a:r>
                        <a:rPr lang="en-IO" b="1" dirty="0"/>
                        <a:t> underperforms recursive scaling</a:t>
                      </a:r>
                      <a:endParaRPr lang="en-IO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Simply learning the skip weight is not equivalent to </a:t>
                      </a:r>
                      <a:r>
                        <a:rPr lang="en-IO" b="1"/>
                        <a:t>stability-aware adaptation</a:t>
                      </a:r>
                      <a:r>
                        <a:rPr lang="en-IO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521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096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75CD-3B7F-3EBC-526B-C783036F9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C562A-C7A2-553C-439B-4F5C276B9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BFD3CE8-B0C0-85F7-0870-0451A191C88A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316F19-F722-2EE1-824B-AC547EE9BFD2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96782FA3-1FA1-A998-B43D-B7D509F2C11C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13B124E-394A-1BAE-78B7-EF95EE822A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F8D3E91-A66A-1EB0-2C78-CC6423AFCA53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Project Title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Motivation and 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of the Project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Analysis on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Insights from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rgbClr val="FFC000"/>
                </a:solidFill>
                <a:latin typeface="Cambria"/>
                <a:ea typeface="Cambria"/>
                <a:cs typeface="Times New Roman" panose="02020503050405090304"/>
              </a:rPr>
              <a:t>Research Gap</a:t>
            </a:r>
            <a:endParaRPr lang="en-IN" sz="120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Objectives, Scope of the Project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Workflow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Literature Review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80C77C-71F4-F6A5-4080-289783131FDC}"/>
              </a:ext>
            </a:extLst>
          </p:cNvPr>
          <p:cNvSpPr txBox="1"/>
          <p:nvPr/>
        </p:nvSpPr>
        <p:spPr>
          <a:xfrm>
            <a:off x="2560929" y="2001650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>
                <a:solidFill>
                  <a:schemeClr val="tx1"/>
                </a:solidFill>
                <a:latin typeface="Georgia" panose="02040502050405020303" pitchFamily="18" charset="0"/>
              </a:rPr>
              <a:t>Identified Gap: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Existing </a:t>
            </a:r>
            <a:r>
              <a:rPr lang="en-US" altLang="en-US" sz="1800" err="1">
                <a:solidFill>
                  <a:schemeClr val="tx1"/>
                </a:solidFill>
                <a:latin typeface="Georgia" panose="02040502050405020303" pitchFamily="18" charset="0"/>
              </a:rPr>
              <a:t>research:Feature</a:t>
            </a: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 / Activation → Gate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>
                <a:solidFill>
                  <a:schemeClr val="tx1"/>
                </a:solidFill>
                <a:latin typeface="Georgia" panose="02040502050405020303" pitchFamily="18" charset="0"/>
              </a:rPr>
              <a:t>Proposed </a:t>
            </a:r>
            <a:r>
              <a:rPr lang="en-US" altLang="en-US" sz="1800" b="1" err="1">
                <a:solidFill>
                  <a:schemeClr val="tx1"/>
                </a:solidFill>
                <a:latin typeface="Georgia" panose="02040502050405020303" pitchFamily="18" charset="0"/>
              </a:rPr>
              <a:t>LyASC</a:t>
            </a:r>
            <a:r>
              <a:rPr lang="en-US" altLang="en-US" sz="1800" b="1">
                <a:solidFill>
                  <a:schemeClr val="tx1"/>
                </a:solidFill>
                <a:latin typeface="Georgia" panose="02040502050405020303" pitchFamily="18" charset="0"/>
              </a:rPr>
              <a:t>: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Local Dynamical Stability → Gate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This is the project's specific and testable novelty, rather than the broader claim that adaptive skip connections are new.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E05EC7A-EA3F-3048-106A-AC096F4EB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626679"/>
              </p:ext>
            </p:extLst>
          </p:nvPr>
        </p:nvGraphicFramePr>
        <p:xfrm>
          <a:off x="2560929" y="1278749"/>
          <a:ext cx="9513639" cy="2834640"/>
        </p:xfrm>
        <a:graphic>
          <a:graphicData uri="http://schemas.openxmlformats.org/drawingml/2006/table">
            <a:tbl>
              <a:tblPr/>
              <a:tblGrid>
                <a:gridCol w="2591631">
                  <a:extLst>
                    <a:ext uri="{9D8B030D-6E8A-4147-A177-3AD203B41FA5}">
                      <a16:colId xmlns:a16="http://schemas.microsoft.com/office/drawing/2014/main" val="3602037549"/>
                    </a:ext>
                  </a:extLst>
                </a:gridCol>
                <a:gridCol w="3120062">
                  <a:extLst>
                    <a:ext uri="{9D8B030D-6E8A-4147-A177-3AD203B41FA5}">
                      <a16:colId xmlns:a16="http://schemas.microsoft.com/office/drawing/2014/main" val="3486014723"/>
                    </a:ext>
                  </a:extLst>
                </a:gridCol>
                <a:gridCol w="3801946">
                  <a:extLst>
                    <a:ext uri="{9D8B030D-6E8A-4147-A177-3AD203B41FA5}">
                      <a16:colId xmlns:a16="http://schemas.microsoft.com/office/drawing/2014/main" val="75303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sz="1800" b="1"/>
                        <a:t>Existing Approach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sz="1800" b="1"/>
                        <a:t>Control Signal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sz="1800" b="1"/>
                        <a:t>Limitation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564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 dirty="0" err="1"/>
                        <a:t>ResNet</a:t>
                      </a:r>
                      <a:endParaRPr lang="en-IO" dirty="0" err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Fixed identity skip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No adaptive stability control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400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Base Paper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Fixed/recursive skip + LN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dirty="0"/>
                        <a:t>Improves gradient </a:t>
                      </a:r>
                      <a:r>
                        <a:rPr lang="en-IO" dirty="0" err="1"/>
                        <a:t>behaviour</a:t>
                      </a:r>
                      <a:r>
                        <a:rPr lang="en-IO" dirty="0"/>
                        <a:t> but does not explicitly estimate local instability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83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Highway / Gated Residual Networks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Learned/feature-based gates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Feature-driven</a:t>
                      </a:r>
                      <a:r>
                        <a:rPr lang="en-IO"/>
                        <a:t>, not stability-driven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616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 dirty="0" err="1"/>
                        <a:t>SkipNet</a:t>
                      </a:r>
                      <a:r>
                        <a:rPr lang="en-IO" b="1" dirty="0"/>
                        <a:t> / Dynamic Routing</a:t>
                      </a:r>
                      <a:endParaRPr lang="en-IO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Activation/content information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Primarily targets </a:t>
                      </a:r>
                      <a:r>
                        <a:rPr lang="en-IO" b="1"/>
                        <a:t>computational efficiency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196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 err="1"/>
                        <a:t>CosineGate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Branch activation geometry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Geometric signal, not local dynamical stability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010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 dirty="0" err="1"/>
                        <a:t>LyASC</a:t>
                      </a:r>
                      <a:r>
                        <a:rPr lang="en-IO" b="1" dirty="0"/>
                        <a:t> (Proposed)</a:t>
                      </a:r>
                      <a:endParaRPr lang="en-IO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Lyapunov-inspired local instability estimate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Stability-driven adaptive skip control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554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830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638A3-9235-ECC8-DE85-37712C79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6DD17-2DA6-E23C-C45C-E6377B08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US" sz="3200" b="1">
                <a:latin typeface="Cambria" panose="02040503050406030204" pitchFamily="18" charset="0"/>
                <a:ea typeface="Cambria" panose="02040503050406030204" pitchFamily="18" charset="0"/>
              </a:rPr>
              <a:t>Objectives, Scope of the Project</a:t>
            </a:r>
            <a:endParaRPr lang="en-IN" sz="3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C0913D-506C-4791-8C27-C5FC590D60FA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4E3D91-8990-7582-BFCB-40CE8D9E1938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56DF5474-3F3F-569C-576F-7414364F1165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7DE6CE-EA83-996B-81F8-C7CA1FF5C9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7ECD5BC-836F-B2BB-31A2-5884CFA9FA95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Project Title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Motivation and 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of the Project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Analysis on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Insights from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Research Gap</a:t>
            </a:r>
            <a:endParaRPr lang="en-IN" sz="12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Objectives, Scope of the Project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Workflow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Literature Review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C9A33A-5BA0-25F2-7E97-4364672CBA4D}"/>
              </a:ext>
            </a:extLst>
          </p:cNvPr>
          <p:cNvSpPr txBox="1"/>
          <p:nvPr/>
        </p:nvSpPr>
        <p:spPr>
          <a:xfrm>
            <a:off x="2477371" y="2123048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>
                <a:solidFill>
                  <a:schemeClr val="tx1"/>
                </a:solidFill>
                <a:latin typeface="Georgia" panose="02040502050405020303" pitchFamily="18" charset="0"/>
              </a:rPr>
              <a:t>Objectives: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1"/>
                </a:solidFill>
                <a:latin typeface="Georgia" panose="02040502050405020303" pitchFamily="18" charset="0"/>
              </a:rPr>
              <a:t>Establish the base-paper reproduction as the experimental baseline for skip-scaling and normalization.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1"/>
                </a:solidFill>
                <a:latin typeface="Georgia" panose="02040502050405020303" pitchFamily="18" charset="0"/>
              </a:rPr>
              <a:t>Develop </a:t>
            </a:r>
            <a:r>
              <a:rPr lang="en-US" altLang="en-US" sz="1600" err="1">
                <a:solidFill>
                  <a:schemeClr val="tx1"/>
                </a:solidFill>
                <a:latin typeface="Georgia" panose="02040502050405020303" pitchFamily="18" charset="0"/>
              </a:rPr>
              <a:t>LyASC</a:t>
            </a:r>
            <a:r>
              <a:rPr lang="en-US" altLang="en-US" sz="1600">
                <a:solidFill>
                  <a:schemeClr val="tx1"/>
                </a:solidFill>
                <a:latin typeface="Georgia" panose="02040502050405020303" pitchFamily="18" charset="0"/>
              </a:rPr>
              <a:t>-S, using a lightweight scalar stability-aware gate per residual block.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1"/>
                </a:solidFill>
                <a:latin typeface="Georgia" panose="02040502050405020303" pitchFamily="18" charset="0"/>
              </a:rPr>
              <a:t>Estimate local block instability using a finite-time Lyapunov-inspired/Jacobian-based stability proxy.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1"/>
                </a:solidFill>
                <a:latin typeface="Georgia" panose="02040502050405020303" pitchFamily="18" charset="0"/>
              </a:rPr>
              <a:t>Dynamically regulate the skip strength according to the estimated stability condition.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1"/>
                </a:solidFill>
                <a:latin typeface="Georgia" panose="02040502050405020303" pitchFamily="18" charset="0"/>
              </a:rPr>
              <a:t>Compare </a:t>
            </a:r>
            <a:r>
              <a:rPr lang="en-US" altLang="en-US" sz="1600" err="1">
                <a:solidFill>
                  <a:schemeClr val="tx1"/>
                </a:solidFill>
                <a:latin typeface="Georgia" panose="02040502050405020303" pitchFamily="18" charset="0"/>
              </a:rPr>
              <a:t>LyASC</a:t>
            </a:r>
            <a:r>
              <a:rPr lang="en-US" altLang="en-US" sz="1600">
                <a:solidFill>
                  <a:schemeClr val="tx1"/>
                </a:solidFill>
                <a:latin typeface="Georgia" panose="02040502050405020303" pitchFamily="18" charset="0"/>
              </a:rPr>
              <a:t> against fixed-skip, LN/BN and adaptive-control baselines.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1"/>
                </a:solidFill>
                <a:latin typeface="Georgia" panose="02040502050405020303" pitchFamily="18" charset="0"/>
              </a:rPr>
              <a:t>Evaluate gradient, optimization and generalization stability.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60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b="1">
                <a:solidFill>
                  <a:schemeClr val="tx1"/>
                </a:solidFill>
                <a:latin typeface="Georgia" panose="02040502050405020303" pitchFamily="18" charset="0"/>
              </a:rPr>
              <a:t>Scope: Phase 1: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>
                <a:solidFill>
                  <a:schemeClr val="tx1"/>
                </a:solidFill>
                <a:latin typeface="Georgia" panose="02040502050405020303" pitchFamily="18" charset="0"/>
              </a:rPr>
              <a:t>CIFAR-10 &amp; CIFAR-100 → ResNet-20/56 → mechanism validation.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b="1">
                <a:solidFill>
                  <a:schemeClr val="tx1"/>
                </a:solidFill>
                <a:latin typeface="Georgia" panose="02040502050405020303" pitchFamily="18" charset="0"/>
              </a:rPr>
              <a:t>Evaluation: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>
                <a:solidFill>
                  <a:schemeClr val="tx1"/>
                </a:solidFill>
                <a:latin typeface="Georgia" panose="02040502050405020303" pitchFamily="18" charset="0"/>
              </a:rPr>
              <a:t>Gradient norm • Gradient variation • Convergence • Run-to-run stability • Test accuracy • Generalization gap.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b="1">
                <a:solidFill>
                  <a:schemeClr val="tx1"/>
                </a:solidFill>
                <a:latin typeface="Georgia" panose="02040502050405020303" pitchFamily="18" charset="0"/>
              </a:rPr>
              <a:t>Mandatory Ablation: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>
                <a:solidFill>
                  <a:schemeClr val="tx1"/>
                </a:solidFill>
                <a:latin typeface="Georgia" panose="02040502050405020303" pitchFamily="18" charset="0"/>
              </a:rPr>
              <a:t>Lyapunov proxy vs gradient-norm-ratio gate vs feature-driven gate.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b="1">
                <a:solidFill>
                  <a:schemeClr val="tx1"/>
                </a:solidFill>
                <a:latin typeface="Georgia" panose="02040502050405020303" pitchFamily="18" charset="0"/>
              </a:rPr>
              <a:t>Future: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>
                <a:solidFill>
                  <a:schemeClr val="tx1"/>
                </a:solidFill>
                <a:latin typeface="Georgia" panose="02040502050405020303" pitchFamily="18" charset="0"/>
              </a:rPr>
              <a:t>Tiny ImageNet / ImageNet → deeper-scale validation.</a:t>
            </a:r>
          </a:p>
        </p:txBody>
      </p:sp>
    </p:spTree>
    <p:extLst>
      <p:ext uri="{BB962C8B-B14F-4D97-AF65-F5344CB8AC3E}">
        <p14:creationId xmlns:p14="http://schemas.microsoft.com/office/powerpoint/2010/main" val="3750081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A843D-B16F-8F39-0823-937A79112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9910-ECE2-2B59-23CD-552C86DC9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244BD6-3EB5-04BF-F304-684B94C41589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577353-BD23-30BA-1D27-98F443AD9B1C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613DA348-445F-4987-2004-65F75A9EEB0F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3F581D1-A7D6-2235-FBFA-2B38B4DEFC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3BD64BD-571C-8571-9DAB-0D093122CA5A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Project Title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Motivation and 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of the Project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Analysis on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Insights from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Research Gap</a:t>
            </a:r>
            <a:endParaRPr lang="en-IN" sz="12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Objectives, Scope of the Project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rgbClr val="FFC000"/>
                </a:solidFill>
                <a:latin typeface="Cambria"/>
                <a:ea typeface="Cambria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Workflow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Literature Review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 (Gantt Chart)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97D09-469F-FF6E-52C2-A449768B5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964" y="1295400"/>
            <a:ext cx="8746997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50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4915B-DE00-F2C2-7936-4C2351233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B7AA-9367-8BF7-5C96-5FE3CA3E2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Workflow Diagram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052341-C9A9-906B-D3EE-84FE9C3ED983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DED6167-52DD-B99E-E1B1-009A0BED066F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EA121FE9-5CC1-1EAB-6D99-60CBDE4D40C5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C9504C-90E6-C757-F3AF-3E32D0B6A7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FACFE7F-C3F6-8890-9A9B-8318FFF96B9B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Project Title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Motivation and 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of the Project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Analysis on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Insights from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Research Gap</a:t>
            </a:r>
            <a:endParaRPr lang="en-IN" sz="12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Objectives, Scope of the Project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rgbClr val="FFC000"/>
                </a:solidFill>
                <a:latin typeface="Cambria"/>
                <a:ea typeface="Cambria"/>
              </a:rPr>
              <a:t>Workflow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Literature Review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 (Gantt Chart)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30694-6265-BDDC-FEE9-3C6D9C1E5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617" y="1215080"/>
            <a:ext cx="8602063" cy="483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79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C1EDB-4E48-631C-E78F-20833F32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E87DB-BF9C-B603-A673-77153E3D3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AAFAFF-91B1-6724-14AA-6597C6C6CDF8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CA29CC-FDBB-C560-9D15-A3535D1FAFFA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D5B70A1B-BF49-6003-21F8-57D10940E798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0A1C85-D67A-AE59-FECE-4CE8F4D31D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C0E56AA-4A90-EF64-F83E-A0C322F52CDA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Project Title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Motivation and 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of the Project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Analysis on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Insights from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Research Gap</a:t>
            </a:r>
            <a:endParaRPr lang="en-IN" sz="12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Objectives, Scope of the Project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Workflow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rgbClr val="FFC000"/>
                </a:solidFill>
                <a:latin typeface="Cambria"/>
                <a:ea typeface="Cambria"/>
              </a:rPr>
              <a:t>Literature Review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7B5346-22A1-29B7-BE59-5B52810C0363}"/>
              </a:ext>
            </a:extLst>
          </p:cNvPr>
          <p:cNvSpPr txBox="1"/>
          <p:nvPr/>
        </p:nvSpPr>
        <p:spPr>
          <a:xfrm>
            <a:off x="2560929" y="2001650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>
                <a:solidFill>
                  <a:schemeClr val="tx1"/>
                </a:solidFill>
                <a:latin typeface="Georgia" panose="02040502050405020303" pitchFamily="18" charset="0"/>
              </a:rPr>
              <a:t>Deep neural networks have achieved remarkable success in computer vision.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>
                <a:solidFill>
                  <a:schemeClr val="tx1"/>
                </a:solidFill>
                <a:latin typeface="Georgia" panose="02040502050405020303" pitchFamily="18" charset="0"/>
              </a:rPr>
              <a:t>However, increasing network depth introduces several training challenges:</a:t>
            </a: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Georgia" panose="02040502050405020303" pitchFamily="18" charset="0"/>
              </a:rPr>
              <a:t>Vanishing gradients</a:t>
            </a: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Georgia" panose="02040502050405020303" pitchFamily="18" charset="0"/>
              </a:rPr>
              <a:t>Optimization instability</a:t>
            </a: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Georgia" panose="02040502050405020303" pitchFamily="18" charset="0"/>
              </a:rPr>
              <a:t>Slow convergence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>
                <a:solidFill>
                  <a:schemeClr val="tx1"/>
                </a:solidFill>
                <a:latin typeface="Georgia" panose="02040502050405020303" pitchFamily="18" charset="0"/>
              </a:rPr>
              <a:t>Residual Networks (</a:t>
            </a:r>
            <a:r>
              <a:rPr lang="en-US" altLang="en-US" sz="2000" err="1">
                <a:solidFill>
                  <a:schemeClr val="tx1"/>
                </a:solidFill>
                <a:latin typeface="Georgia" panose="02040502050405020303" pitchFamily="18" charset="0"/>
              </a:rPr>
              <a:t>ResNet</a:t>
            </a:r>
            <a:r>
              <a:rPr lang="en-US" altLang="en-US" sz="2000">
                <a:solidFill>
                  <a:schemeClr val="tx1"/>
                </a:solidFill>
                <a:latin typeface="Georgia" panose="02040502050405020303" pitchFamily="18" charset="0"/>
              </a:rPr>
              <a:t>) improve gradient flow using fixed identity skip connections.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>
                <a:solidFill>
                  <a:schemeClr val="tx1"/>
                </a:solidFill>
                <a:latin typeface="Georgia" panose="02040502050405020303" pitchFamily="18" charset="0"/>
              </a:rPr>
              <a:t>Although effective, every residual block uses the same shortcut strength throughout training, even though different layers may experience different optimization dynamics.</a:t>
            </a:r>
            <a:endParaRPr lang="en-US" altLang="en-US" sz="2000" b="1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00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>
                <a:solidFill>
                  <a:schemeClr val="tx1"/>
                </a:solidFill>
                <a:latin typeface="Georgia" panose="02040502050405020303" pitchFamily="18" charset="0"/>
              </a:rPr>
              <a:t>Can skip connections adapt according to the stability of each layer during training?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000" b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077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F0E46-90DE-FDE1-DDE1-7538C5627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90F7E65-D103-08D2-991A-61D98C01BE31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DC4E83C-479A-6BBB-8E7D-C214B75DBD4B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2C5160B-F76C-CF53-4E2F-3B775099D13B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C0189A2-7544-B4F6-1716-4E3D95401DC7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45C5A98A-3762-58A5-EA8C-619B5BBC084B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F1A1A505-6E28-FF75-F6B0-98AF9E1EBA25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9C7FD63-482E-15AE-2319-E09D8D5E98E1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D884BBC3-28B0-BFF5-DDDE-8A3D34B119F5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7A243B8-EC75-A619-757D-67461807F4B3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44DBA84-2182-DF65-BBBE-5E370166DA8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657DDB38-BAFE-2B27-19F0-C40230CA6DF5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9A7EE74-F637-D334-1FB1-EF4246CD0E53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BB30036-3A14-213E-B732-CBE84083944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C9DF646C-78D2-289A-81BC-BE0030F5D77A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5A8CE02-5794-BC73-C12F-C6F7DDFCE3BA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3631E4A-09EF-C23A-AC14-25C7BEC843F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4A2542D9-1F04-E10D-92E7-9958BB0A863F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7E9C159-A4C1-6F8D-89DE-1584FBF6B691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73555AF8-D3E9-F134-87A3-1538F0866396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F4BFA297-49AE-3350-AA37-155787D75323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2E5A947B-A8EE-5A95-AF8D-EE457E1A2056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3BEBC10-6718-5B5B-6A8F-D9726F1502A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600AA87D-034F-EA8B-56A1-5FD8A8C78653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15FE444-1A89-E7A1-6108-39178360B861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0223FF9-4C26-9458-CCB1-6CA2FB54776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55CD4095-438E-4882-1506-347AD449B641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DF3FAAF1-B3EC-C1FC-F873-A024DBF1D978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085DE6C-06D7-9ECF-0509-5DE565C2B78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58559FCD-959F-6E4B-00BD-6E5FAE202805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53AE77B-5E98-6C84-F2E5-ACCAD23D8AC1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E27DA49-FB68-39CE-AD0E-C64833E6CD96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C79A0266-1011-0977-0458-9DB3630E5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294771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Research gap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Residual Learning for Image Recognition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Kaiming He, Xiangyu Zhang, Shaoqing Ren &amp; Jian Sun | </a:t>
                      </a:r>
                      <a:r>
                        <a:rPr lang="en-IO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CVPR, 2016</a:t>
                      </a:r>
                      <a:r>
                        <a:rPr lang="en-IO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| </a:t>
                      </a:r>
                      <a:r>
                        <a:rPr lang="en-IO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DOI: 10.1109/CVPR.2016.90</a:t>
                      </a:r>
                      <a:endParaRPr sz="14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</a:t>
                      </a:r>
                      <a:r>
                        <a:rPr lang="en-US" sz="1400" b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US" sz="14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by reformulating layers to learn residual functions F(x) with identity shortcuts x. Evaluates deep networks up to 152 layers on ImageNet and up to 1000 layers on CIFAR-10.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Makes very deep networks easier to optimize; improves accuracy with increased depth; establishes identity skip connections as a fundamental deep-network architecture.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Skip strength remains fixed. </a:t>
                      </a:r>
                      <a:r>
                        <a:rPr lang="en-US" sz="1400" b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LyASC</a:t>
                      </a:r>
                      <a:r>
                        <a:rPr lang="en-US" sz="14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investigates whether shortcut strength can be dynamically controlled using a local stability signal.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B3AB962-FD15-6B55-3EE7-B6B57DB529B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F2B52CD-97C4-85EB-12F2-F4B9ADEE8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184335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Uses a fixed identity shortcut without adapting its strength to local network dynamics; does not explicitly </a:t>
                      </a:r>
                      <a:r>
                        <a:rPr lang="en-IO" err="1"/>
                        <a:t>analyze</a:t>
                      </a:r>
                      <a:r>
                        <a:rPr lang="en-IO"/>
                        <a:t> Lyapunov-based stability control.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9156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D90-CD86-B076-1CA9-F88566980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B459FD-ACB8-9962-7AA8-6AE3AF1A059E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4E4040A-FFF2-96CC-2CE6-1B7B4F8AC967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C7A28F3-A52F-8D30-4964-C4AE10695695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0212FAB-DF0B-B611-5D70-DD50EAEFB053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B93A0AB8-E98A-EA16-C09B-D4B749E0BF34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931371D-5D45-49D4-687B-0EC34BCE9839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5BBCB72-E64E-18F8-0A21-E1638F56AB94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1E3EA1B-2AFA-AD9E-8729-C5E01D5CE385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4D689E9-9BEB-143F-5E41-9A8865164AA2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38C3CEA-CDB2-512C-6359-864A8241904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EEDC75AC-F44D-A2E1-5131-5644B36AD3E7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8C3087A-055A-E27E-2654-967095FE3F38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778AB99-FD71-70F2-39E7-6F017C56E3C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14468884-F253-FFB5-0028-CA406DD60B6D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974B8879-F0C2-086E-D2B0-1F71C6D13323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B1BCB-F6F8-4DD9-B631-A5084F7F966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ED036FE2-DC29-2115-231D-6DF8850E7A31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750F13E-9211-8F41-18DA-46C1A5EF2B52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8495F31-5BC9-181E-359C-906864C8074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8D7F1015-63C9-CBAD-852D-6ACE896AFD04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5B1210F-FD34-F944-07E0-94A94D34B14C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A1E4317-1083-7C49-7E75-65266016014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AF68AD72-81D9-1094-3A04-74BB5D2D7340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A10A2CA5-FE36-0F0A-3530-D330D86B16C0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C8D15A1-1B4D-DBF5-7E3B-3189C7C610A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B97ED47F-4E53-89D8-1F42-A990ACAAB552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9BA198D-EFA4-93E6-4A37-A482916993D1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4822D4-114D-5A26-147C-483A7FD08DF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5C068EC7-F892-C21B-F9C1-7AD52A4F3C37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D593F65A-4FA9-D8E2-6168-C4336306AA8C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A3FFC168-9671-F2D3-CE63-975B0927AA28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7690EF02-ACCA-311E-A99A-6E9FBAA37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602710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Research gap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Identity Mappings in Deep Residual Networks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Kaiming He, Xiangyu Zhang, Shaoqing Ren &amp; Jian Sun | </a:t>
                      </a:r>
                      <a:r>
                        <a:rPr lang="en-IO" b="1"/>
                        <a:t>ECCV, 2016</a:t>
                      </a:r>
                      <a:r>
                        <a:rPr lang="en-IO"/>
                        <a:t> | </a:t>
                      </a:r>
                      <a:r>
                        <a:rPr lang="en-IO" b="1"/>
                        <a:t>DOI: 10.1007/978-3-319-46493-0_38</a:t>
                      </a:r>
                      <a:endParaRPr sz="14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Demonstrates improved gradient and information propagation; provides theoretical motivation for identity shortcuts; enables effective training of 1001-layer </a:t>
                      </a:r>
                      <a:r>
                        <a:rPr lang="en-IO" err="1"/>
                        <a:t>ResNets</a:t>
                      </a:r>
                      <a:r>
                        <a:rPr lang="en-IO"/>
                        <a:t>.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AF7C43E-BDB4-13F2-09C7-F1C1B7568DB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39B144D-6FB9-5DBE-3A01-74DB8EC7D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311630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Assumes the identity path is fixed; does not adapt shortcut contribution according to training or block-level stability.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AD50D07-55EC-AB15-782B-7F57FB75E0D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DFA4B92A-151A-3BF5-90D3-9027D4762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896766"/>
              </p:ext>
            </p:extLst>
          </p:nvPr>
        </p:nvGraphicFramePr>
        <p:xfrm>
          <a:off x="5344719" y="3239294"/>
          <a:ext cx="1600200" cy="329184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Analyses forward and backward signal propagation in residual blocks and proposes </a:t>
                      </a:r>
                      <a:r>
                        <a:rPr lang="en-IO" err="1"/>
                        <a:t>PreAct-ResNet</a:t>
                      </a:r>
                      <a:r>
                        <a:rPr lang="en-IO"/>
                        <a:t> using identity mappings and post-addition activation. Evaluated using very deep CIFAR and ImageNet models.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B6C2646-6E49-0DF4-7535-098E7528F38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3411CBF-1A04-2BB6-929A-73D75F9FA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918250"/>
              </p:ext>
            </p:extLst>
          </p:nvPr>
        </p:nvGraphicFramePr>
        <p:xfrm>
          <a:off x="10043414" y="3759822"/>
          <a:ext cx="2148585" cy="188976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Establishes the importance of identity mappings but does not determine </a:t>
                      </a:r>
                      <a:r>
                        <a:rPr lang="en-IO" b="1"/>
                        <a:t>when the identity path should be strengthened or weakened</a:t>
                      </a:r>
                      <a:r>
                        <a:rPr lang="en-IO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650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709EC-D8CE-7F24-1778-106A902F2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744F96F-EAFC-2C8C-CCAB-2BEE8D63000D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D0856F0-1163-757B-DAC1-5AE83DD14D5A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A65DBDA-B633-E8C6-EBFE-9F57275616B0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EC5C28-CDF8-EA2D-8A54-5FA83248DECB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76A609E2-995D-71B7-0F0B-A02986754D84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5A9273E-B171-3AE7-4962-737F101CF096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433419B-DDBA-E011-F43A-732DC490053C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EE5A593-FABA-6F22-9998-47EA2D4930A6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51EACFC-D93B-825E-A7C1-059240E6A73B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F4B47A0-D2AB-3562-054A-566BFEE5D58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2816F22A-18F5-5523-BB80-EE87E44C0138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A4B7B52-D940-D064-ABEA-E0C48601B494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6CC31AE-5CDC-ECD6-6DFC-4CF1B0F4646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6C3037AC-CA43-C56C-54C2-5D208B64FE8E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2A347BA-ACD7-B353-2D98-37AD0563CA57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3CD1573-3172-3CD3-BED4-C9E8A02F0FE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F3C30C67-6B36-BC7F-E12D-0B837297D326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110C29E-CFA4-E7B5-09E9-5991DB8877DB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FDDDD77-E0C7-A594-D116-530F5D6BDB8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CFB2ABE8-D989-4C36-A944-EE0FE8B8A961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93A8903-C062-86DF-87F9-0D6241066370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CB115A2-DFC1-397C-F2CF-AFF654252456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85CAD2C2-1653-6DE9-AB12-11C5D642469B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11BD4F4-91B9-9612-15F1-F0E9368E98FF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E45AF5B-F54D-80B2-9252-F126C04D20F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16EAB59D-82E9-EAD8-3043-373BE6E8B26D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CD8BB10-6CC0-3A67-80C8-7046C3463CFE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50DD026-AFC4-FC82-10C0-CE791F5C323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475D657C-4D9A-50EC-8C28-4BD7A5D584E2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033FF48-7B11-C4AA-6440-402C8E10F1B9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7C7704BD-7095-BCAC-BDFE-77A7B8462B19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D3756929-9FE3-0CEB-73A4-BDDD3002A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99910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Rethinking Skip Connection with Layer Normalization in Transformers and </a:t>
                      </a:r>
                      <a:r>
                        <a:rPr lang="en-IO" err="1"/>
                        <a:t>ResNets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 err="1"/>
                        <a:t>Fenglin</a:t>
                      </a:r>
                      <a:r>
                        <a:rPr lang="en-IO"/>
                        <a:t> Liu, Xuancheng Ren, Zhiyuan Zhang, Xu Sun &amp; </a:t>
                      </a:r>
                      <a:r>
                        <a:rPr lang="en-IO" err="1"/>
                        <a:t>Yuexian</a:t>
                      </a:r>
                      <a:r>
                        <a:rPr lang="en-IO"/>
                        <a:t> Zou | </a:t>
                      </a:r>
                      <a:r>
                        <a:rPr lang="en-IO" b="1" err="1"/>
                        <a:t>arXiv</a:t>
                      </a:r>
                      <a:r>
                        <a:rPr lang="en-IO" b="1"/>
                        <a:t>, 2021</a:t>
                      </a:r>
                      <a:r>
                        <a:rPr lang="en-IO"/>
                        <a:t> |</a:t>
                      </a:r>
                      <a:r>
                        <a:rPr lang="en-IO" b="1"/>
                        <a:t>DOI: 10.48550/arXiv.2105.07205</a:t>
                      </a:r>
                      <a:endParaRPr sz="14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Shows that skip scaling can cause gradient explosion/vanishing; demonstrates that </a:t>
                      </a:r>
                      <a:r>
                        <a:rPr lang="en-IO" err="1"/>
                        <a:t>LayerNorm</a:t>
                      </a:r>
                      <a:r>
                        <a:rPr lang="en-IO"/>
                        <a:t> can stabilize scaled shortcuts; proposes recursive skip scaling with LN.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76342C3C-9766-B51C-493F-B5ED360990F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5941806-39EF-EAA4-F9B9-50058CF9D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583248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O"/>
                        <a:t>Skip scaling is manually designed rather than determined from an explicit dynamical stability signal; adaptation is not based on Lyapunov analysis.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CF39A9E-79A1-8D64-94EB-6FDBA5D100D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11BF124A-6166-541A-0B50-0E3526991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633707"/>
              </p:ext>
            </p:extLst>
          </p:nvPr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A696819-BA19-2647-9847-49155F9DABA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E5E6625E-5566-4D59-D15D-536BE8A64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0498"/>
              </p:ext>
            </p:extLst>
          </p:nvPr>
        </p:nvGraphicFramePr>
        <p:xfrm>
          <a:off x="10043414" y="3759822"/>
          <a:ext cx="2148585" cy="188976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Base paper for LyASC.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It establishes that skip strength affects gradient stability; LyASC asks whether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stability itself can determine skip strength dynamically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822397A-7C63-FE8D-B7B8-ACCDBE856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183593"/>
              </p:ext>
            </p:extLst>
          </p:nvPr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EBAE8EA7-6297-29E9-7B0B-34C61648F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805504"/>
              </p:ext>
            </p:extLst>
          </p:nvPr>
        </p:nvGraphicFramePr>
        <p:xfrm>
          <a:off x="5332019" y="3111205"/>
          <a:ext cx="1512062" cy="307848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Models residual blocks as y=G(</a:t>
                      </a:r>
                      <a:r>
                        <a:rPr lang="en-IO" err="1"/>
                        <a:t>λx+F</a:t>
                      </a:r>
                      <a:r>
                        <a:rPr lang="en-IO"/>
                        <a:t>(</a:t>
                      </a:r>
                      <a:r>
                        <a:rPr lang="en-IO" err="1"/>
                        <a:t>x,W</a:t>
                      </a:r>
                      <a:r>
                        <a:rPr lang="en-IO"/>
                        <a:t>)) and studies different skip scales, normalization strategies and recursive skip structures using gradient analysis and image/translation experiments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838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5D32F-9475-11FA-AC9C-F4C3C1013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0DD5D73-C9AA-A6E1-A2AD-CBA965A19AFD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2CE4927-399A-69DC-C7D8-B037FB9F9CF2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E9E4C28-3B58-EA09-A695-E2C58CC87FC5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E4AFE1F-AE12-F061-A303-E929B5D998B0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F1CE355E-F391-90DA-E9CD-3DB4795FFF59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715B575A-BACC-B213-5B3B-A77C12E27AF7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2FCD755-E1DB-159A-BF7B-1CE84114E834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3E660006-647A-BC86-114D-E4DA4CE9F8FB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CDAE7F1-8EF6-33A2-50AC-C1502A74C099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56BA267-9CE2-0A26-BB9D-90A1B951573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99549284-3CAE-6670-226D-827C7CAB7E64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6703702-5A1B-BED2-0C0E-08E2CBB77A75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FFDF56EC-111E-B648-A0A5-0AEB921E36E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0344D58B-019A-AD1B-7153-56A445EDE994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301CBC9-D0E6-CC70-B5EB-2864219A0A2C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6991E817-0DA1-59C9-2C92-BCDBC77DA7B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1CA3E0C9-2663-9D46-4311-AA5820DC4EDD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C9A68C43-29DF-D377-A115-8C8AA0B8ED73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E1C35AD-F105-E27F-0189-9D7A4043CF7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849C5452-D8DE-A4FD-8746-21E4271893F5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71BB33DB-22CD-8A17-A91A-BEB0F9C8762A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CAC45257-EA1A-F1AD-8162-D60F71274B1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4C6C3C4F-BCCC-A3A7-6E2A-6BF00D7168CA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4BB1FD6-F5A5-C2DE-4B0A-0038AD5618A0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6CB0743-C9FF-332F-E97C-BA4DC084BDC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5271BDD1-76E5-0553-8B57-4F246593799A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6F662A8-C20D-CC10-BA2C-AF1EFD51450A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BF15345-ACAC-C7D5-8AAE-7027EE3D6166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C01D4CCC-8410-775B-9ABD-A5B8D4328355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D0737087-04FF-42C0-030D-3DB0669B4D40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748E93C-CA58-C67C-0D57-A34482AD9E85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25EB3650-74AA-63F5-DEFB-C067FCF7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465179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04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Norm-Preservation: Why Residual Networks Can Become Extremely Deep?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Alireza Zaeemzadeh, Nazanin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Rahnavard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&amp; Mubarak Shah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IEEE TPAMI, 2021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10.1109/TPAMI.2020.2990339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Provides theoretical explanation for stable gradient propagation; links skip connections with norm preservation; supports training extremely deep residual architectures.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25BFA9EB-C84B-5A65-5C68-33F5FFA903F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07D7B84-2B09-008E-08E1-78493953D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384071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Focuses mainly on norm preservation rather than dynamically controlling shortcut strength; requires architectural/regularization modifications.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ECB9331-269E-814E-1580-083631299B7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D2B2CB4F-3A4F-FA53-3093-8036E2DA1322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16964CF-159F-D4A1-8643-166BBE92F49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93C42C25-44B8-9F67-AC9E-6E0268A5D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445666"/>
              </p:ext>
            </p:extLst>
          </p:nvPr>
        </p:nvGraphicFramePr>
        <p:xfrm>
          <a:off x="10043414" y="3759822"/>
          <a:ext cx="2148585" cy="210312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Provides </a:t>
                      </a:r>
                      <a:r>
                        <a:rPr lang="en-US" sz="1400" b="1" i="0" u="none" strike="noStrike" noProof="0"/>
                        <a:t>stability evidence but not a stability-driven controller</a:t>
                      </a:r>
                      <a:r>
                        <a:rPr lang="en-US" sz="1400" b="0" i="0" u="none" strike="noStrike" noProof="0"/>
                        <a:t>. LyASC uses local stability measurements to adapt the residual shortcut itself.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3D379866-95DB-B91F-9A81-77503AFCAF6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AE4FDF4E-846F-F2BA-A632-1D8DA952D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2130"/>
              </p:ext>
            </p:extLst>
          </p:nvPr>
        </p:nvGraphicFramePr>
        <p:xfrm>
          <a:off x="5332019" y="3111205"/>
          <a:ext cx="1512062" cy="307848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Theoretically analyses how identity shortcuts preserve gradient norms and investigates singular-value regularization to improve norm preservation in very deep residual networks.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10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5777A-B081-07B5-FFC4-9994CB521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FC4F70-53EF-9FA2-2021-F7FDC13F5E0F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849EDC2-422D-6828-B273-CDC0021CBB39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EC93542-0F3E-764A-EF48-DC99F4E10D4C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08C535D-1465-0CE5-6F4E-635AB454DCA2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BDD8B915-14D6-A5C5-7579-4012E96F30E8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6FF3ACEA-63EB-10AA-32F9-6DCACD9B2564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BB30D1D-29F0-55B2-87D7-4A323A471F96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28D86FBC-F2E3-D73A-FEB3-3775FF0C6617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6586418-C293-9E9A-4287-6BA9A5854775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B1F1155-318A-CCB5-BD60-A1913E759F5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610CB4DD-F7E0-76BB-A3DD-CB003F1CADAD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1A0CC62-89F9-43CE-1EEA-8255378237CF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4BC0439-74DE-ED56-7853-35458E06256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9B791C17-299E-F262-6642-3DA47E07E7AA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7ED17560-FEA3-A942-2EE8-4FC2037C7620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4F67450-B7E2-3C78-3471-73FDB8FEEEA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C12AC5AF-EFAB-0CCF-EE7C-3AC83D45DB6C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7C7E5CC-2DDF-614B-BEF1-B60AFAE6C2C2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DBA782F-6F7E-9631-EC86-4282F8F0532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6B78AD9B-2D22-A5B8-D4EB-1B79112F1B6B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05B2D31-4E21-00DB-58C3-1A5104D8B3E5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3FFD285-93F2-D46D-45C2-0E6BE26ABF3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D7E09818-4E98-33C4-1397-F5909D39AF36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5DC4253-0CE8-F062-AE45-0C510A37D38E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D397912-F046-1A38-511F-B7F2436D9D7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0BCE512E-29FE-4086-FAF3-FB9BB58E27DD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1300F9B-ABD9-0632-C48B-A4358D326578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FF16253C-6CC2-6850-84CE-80C724ABA18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5B2F7D10-B6E3-32DE-79EB-86721364CA58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414FA1DA-F50A-167E-DDCB-35393D1B030A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5117BAFD-EA93-1CE0-0FA8-CE98D8CD266F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4A5B50FE-783F-6F6A-86CD-219D92410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180379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05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On Skip Connections and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Normalisation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Layers in Deep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Optimisation</a:t>
                      </a:r>
                      <a:endParaRPr lang="en-US" err="1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Lachlan E. MacDonald, Jack Valmadre, Hemanth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Saratchandran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&amp; Simon Lucey | </a:t>
                      </a:r>
                      <a:r>
                        <a:rPr lang="en-US" sz="1400" b="1" i="0" u="none" strike="noStrike" noProof="0" err="1">
                          <a:latin typeface="Arial"/>
                          <a:cs typeface="Arial"/>
                        </a:rPr>
                        <a:t>NeurIPS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, 2023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10.52202/075280-0647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Provides a theoretical explanation of how skip connections accelerate optimization; connects architectural choices with loss-landscape properties.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CD1D9D6-E3B8-7D9D-AAA2-A389F7F9106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B339100-A5C6-91C3-2791-C3C203815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353752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/>
                        <a:t>Primarily analyses existing architectures rather than dynamically controlling residual pathways during training.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328C3AA-2F87-1256-223E-9FA99920173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3DC0496-D818-76F4-AEA7-9DAF0FA7D912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23CEB72-293A-A96D-1DDC-ED1B2621B9C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CAB45BB2-B3DA-1BC8-D138-BF1238F54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84549"/>
              </p:ext>
            </p:extLst>
          </p:nvPr>
        </p:nvGraphicFramePr>
        <p:xfrm>
          <a:off x="10043414" y="3759822"/>
          <a:ext cx="2148585" cy="188976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Provides optimization theory for skip connections but does not introduce a </a:t>
                      </a:r>
                      <a:r>
                        <a:rPr lang="en-US" sz="1400" b="1" i="0" u="none" strike="noStrike" noProof="0"/>
                        <a:t>local stability-based adaptive skip controller</a:t>
                      </a:r>
                      <a:r>
                        <a:rPr lang="en-US" sz="1400" b="0" i="0" u="none" strike="noStrike" noProof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FE96D99B-7EB0-611C-3054-2F48708AC75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988E5C64-4444-7D0A-94C7-C4C018B50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495020"/>
              </p:ext>
            </p:extLst>
          </p:nvPr>
        </p:nvGraphicFramePr>
        <p:xfrm>
          <a:off x="5332019" y="3111205"/>
          <a:ext cx="1512062" cy="350520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Develops a theoretical framework for analysing curvature and regularity of deep networks containing normalization and skip connections. Validates the framework on ResNets across several datasets.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418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3AF1C-9330-5471-0F6A-324F65848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26F25AF-1399-F52F-2472-0807CD7BBF92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9A85B7B-63C7-C4EA-474A-5BD0AAAC69B5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92DED61-A569-A6A7-4DFC-AC9F0B5D85E4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90DAF6D-A8C1-F0EA-4CC5-4C377B440BED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B9A60ECC-8CFA-C169-16F1-52CB1DCDDC24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C99DC13A-86A5-8C5C-B1D5-61CBC6225580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510A5B6-4A72-F96C-05C2-E25F5700F706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268FD608-3F7C-F031-1D2C-DE805BC0713D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EBC9D40-7FC5-E673-188B-476ACE370664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8665458-644A-8193-6398-A8A9F80BBB2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60E4A1F4-EF90-9A80-36FE-21CFED5037D5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DF433138-D178-2C89-1505-1C687F57D7CC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4C38284-75DD-32B0-8AEE-0B3A9055433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6C1336FE-B5CF-F300-738A-798459C69B7F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E9DD276-29B0-1743-94E1-66D9025FFA20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4348FF5-11B7-0860-D317-0143159D8A7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EB19E207-FA25-ACE2-3D95-25032CB36B45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4681698-61B3-9CE2-0604-32F6FCC1DA4B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D0D1CA5-F23D-7D0C-B6EB-FFA99FE3A31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515B7E92-1634-4B1D-E139-6BE95A4CE284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2A606365-87D9-D0CC-453A-A11F32048672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C7D03C2-118E-7AC4-949E-41383C3BA1B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AB25BE8E-FE93-BBC9-46BC-E5B017F16AA8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7993CC57-1EF2-9D2B-2916-EC36D94E48C0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43AE645-7097-5EAA-FE4D-EC6C5BCA241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EB1BB2E1-579F-19BB-0B01-445E84D7ECC7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8C62AD6-5076-59D1-CEA7-802C1EB93B21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B2BA1B0-476B-A246-83EE-43E8D3EF6D7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0688B4A2-96FC-DA1B-920A-322E61F98D6F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3FD7215C-202D-E530-80CC-DB6171274346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C5D7F73F-C828-3680-4FED-F4DA41CAE239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D5266F37-4782-5CFC-9AFF-90AC90803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249144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06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Highway Networks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Rupesh Kumar Srivastava, Klaus Greff &amp; Jürgen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Schmidhuber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 err="1">
                          <a:latin typeface="Arial"/>
                          <a:cs typeface="Arial"/>
                        </a:rPr>
                        <a:t>arXiv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, 2015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10.48550/arXiv.1505.00387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Establishes learnable control of information flow; enables very deep networks; provides an important foundation for gated residual architectures.</a:t>
                      </a:r>
                      <a:r>
                        <a:rPr lang="en-IO"/>
                        <a:t>.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9CDA543D-4B8C-749B-B759-2AAD3281EC6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785AA1F-7678-E1EA-2777-42BD28388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33318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Gate is learned from network features rather than an explicit stability measure; introduces additional parameters and does not target Lyapunov stability.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99D2D31-78DA-92E1-E5E9-496CA2A765A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B05F57F-F844-9091-9BB1-B62A799A1930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919379EE-B4C4-6BE8-A9CA-C38D54A0561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CF66BF46-A3A4-2D74-5DFD-50B6CA591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87754"/>
              </p:ext>
            </p:extLst>
          </p:nvPr>
        </p:nvGraphicFramePr>
        <p:xfrm>
          <a:off x="10043414" y="3759822"/>
          <a:ext cx="2148585" cy="210312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/>
                        <a:t>Adaptive gating is established, but stability-driven gating is unexplored.</a:t>
                      </a:r>
                      <a:r>
                        <a:rPr lang="en-US" sz="1400" b="0" i="0" u="none" strike="noStrike" noProof="0"/>
                        <a:t> LyASC replaces generic feature-based control with a local dynamical-stability signal.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CDC859E-F2C5-4FE4-1A68-804CAA0684C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EA080876-5955-FF40-6F26-E5B6B83EC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743337"/>
              </p:ext>
            </p:extLst>
          </p:nvPr>
        </p:nvGraphicFramePr>
        <p:xfrm>
          <a:off x="5332019" y="3111205"/>
          <a:ext cx="1512062" cy="329184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Introduces transform and carry gates to learn the balance between nonlinear transformation and information-preserving shortcut pathways in very deep feed-forward networks.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516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8E0B6-C942-4E3B-4E61-D66D664FF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E741F62-E6CA-8D25-AE20-E317650DDEE3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BAB6236-AB8F-1424-026A-6B12724957FF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D192DC2-B80E-60C8-2E1F-E69F281F9167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2563DEB-2568-D136-05B5-CCCF5AD13B7C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ACF6EDA2-DDCC-F29D-98AE-9C72C3C0126A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CF3C2DFD-ED22-A689-DDDB-4CECD234BD69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52E8D60-83CF-EF68-4063-6EADC099009C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A839EF3-EBAF-11ED-D1CA-43FBBA273A04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716194D-BBD5-5254-2DCA-2C8576926B31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CCC7BCC-CAD6-05DE-456D-2DA5EFE6377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5F2332DC-32C7-9B01-3902-DE25FF7CB5B2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89E6976-8F20-90E3-000E-2A96747D79FD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E2FB847-4843-3DC5-7E7C-5A2CBD44084C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B423016E-25F4-039F-3075-4FFA7B516868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90374274-02F8-8FD9-EF5F-35E8A9F21AC2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477CE72-DEC9-F126-FFAB-223BF9E6AC9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7DFD204B-C79D-AEFA-8C7F-E88D1588BC02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4C09CEA-9F1D-5FA0-560F-13D9D55C81BF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3F581D5-D7C4-0AD4-4444-B73FB281142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89A68E55-5E3A-928B-398D-93C5A86E7B7E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2F1DDE5A-D99C-BAE1-AFC4-16F0F2556FE4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5280D78D-4AD4-ADE5-6177-B6FBEE49A26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E305A065-7352-394A-21DE-493F6C46B55E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C192CA8-D7E8-82E2-BAD9-BB6B7605A01E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51B3E39-B2A8-9B5E-D3D1-A310F36A218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BC6CAE15-BC6E-8E9B-CA3A-EAA582ED8E9C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28FCCD-4D27-6B51-A40B-F1A55362EA89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F1207E1A-2FC2-D9CB-8572-DEF314FB2AA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172E76D0-BB5E-4DA5-D26C-765A9F7D3B8E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9AF26F3B-A5D6-5FF2-CFAA-7009BF114381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1CDD26B-5C04-98C5-4394-0037C3E76257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1F396DE8-BF58-3E6C-E6BD-0B82648D6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990725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07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5000"/>
                        </a:lnSpc>
                        <a:buNone/>
                      </a:pPr>
                      <a:r>
                        <a:rPr lang="en-US" sz="14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SkipNet: Learning Dynamic Routing in Convolutional Networks</a:t>
                      </a:r>
                    </a:p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1400" b="0" i="0" u="none" strike="noStrike" noProof="0">
                        <a:latin typeface="Arial"/>
                        <a:cs typeface="Arial"/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Xin Wang, Fisher Yu, Zi-Yi Dou, Trevor Darrell &amp; Joseph E. Gonzalez | </a:t>
                      </a:r>
                      <a:r>
                        <a:rPr lang="en-US" sz="1400" b="1" i="0" u="none" strike="noStrike" noProof="0"/>
                        <a:t>ECCV, 2018</a:t>
                      </a:r>
                      <a:r>
                        <a:rPr lang="en-US" sz="1400" b="0" i="0" u="none" strike="noStrike" noProof="0"/>
                        <a:t> | </a:t>
                      </a:r>
                      <a:r>
                        <a:rPr lang="en-US" sz="1400" b="1" i="0" u="none" strike="noStrike" noProof="0"/>
                        <a:t>DOI: 10.1007/978-3-030-01261-8_25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Achieves substantial computational savings while preserving accuracy; demonstrates practical dynamic residual routing.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D81F206-1D83-2056-F3DC-337983AC03B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04930FE-6B0F-5614-6CF1-E77E9967E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82822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/>
                        <a:t>Gate is input/activation-driven and primarily targets inference efficiency; routing decisions are not based on local dynamical stability.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281FBBC-A647-54AF-F4D6-DDD7A9B5CAF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F68F123-892B-CD52-07A0-E83520F7B995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41F83035-61B8-D4D5-005B-EC09C0797D0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E395DAA-EA43-11C2-F277-69626DD55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846746"/>
              </p:ext>
            </p:extLst>
          </p:nvPr>
        </p:nvGraphicFramePr>
        <p:xfrm>
          <a:off x="10043414" y="3759822"/>
          <a:ext cx="2148585" cy="188976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Dynamic skipping is established, but </a:t>
                      </a:r>
                      <a:r>
                        <a:rPr lang="en-US" b="1"/>
                        <a:t>stability-driven continuous control of shortcut strength remains unexplored</a:t>
                      </a:r>
                      <a:r>
                        <a:rPr lang="en-US"/>
                        <a:t>.</a:t>
                      </a:r>
                    </a:p>
                    <a:p>
                      <a:pPr lvl="0">
                        <a:buNone/>
                      </a:pPr>
                      <a:endParaRPr lang="en-US" sz="1400" b="0" i="0" u="none" strike="noStrike" noProof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CD51E715-9778-0D59-7DEC-81EEA18D34D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51AD0319-1B66-4FBD-D0FF-CD077C448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910523"/>
              </p:ext>
            </p:extLst>
          </p:nvPr>
        </p:nvGraphicFramePr>
        <p:xfrm>
          <a:off x="5332019" y="311120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Uses a gating network to selectively skip residual blocks on a per-input basis. Combines supervised and reinforcement learning to learn non-differentiable routing decisions.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980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9F1C2-AFE3-BF55-1C79-C0B2D423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00186A6-6137-87BC-A862-2CB36717D873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5FD8C75-6186-3DAD-3FAD-024833A5D295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C6448C3-ADB2-5340-CC44-71E4DE81A678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75A6D2E-A129-DF5C-9116-871AAF2772AC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411831D-79DF-19C5-D76D-C38E6461E6E5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525CA8E-109C-0035-E65D-4DB95550785D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020955F-B536-BE06-707D-3E8E72272975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E926E2C-48F0-B73B-FE7B-88567FB64F15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24A4634-DD78-6EC0-49D0-2E1611148F80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869BB3-99FF-A23B-8712-2B06E668B1E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E9710F6D-AC25-2D2B-D954-77A8B93B55FC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0AEC07A-C3B1-44B4-5199-91E3B21A0E1C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4B1E597-3F55-4B50-047E-AD3EFDC685CC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8D78A7A7-E728-E33D-B1A0-F00EAE736FE3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746C90E-5A3B-F09F-9C7E-6B8EADA3EE4F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0AE316F-DB00-44B3-5999-3217B77DD72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51682969-8301-593A-1C99-91C97BB8E19A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C89A391-3DC4-3A1E-8BA1-D21AB5A71803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B1EA3BC-AE4A-4DFE-5DFD-295754F9347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92A77271-3C62-FF06-0F9C-6304BD84D040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698D4A8-71FA-DC3A-2BAD-7D5095A760FF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BD3EE33-EFAC-2289-33DF-97FBCED8553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E8145C5E-C15A-1CEF-4FC5-804CA85404C3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0AF5F94-1D0A-E1C8-C81A-AA63C03A991A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1B74F3A-0619-B4A4-0844-293AB12110A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0753B98E-0310-C813-48CB-25277EF00EF9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DF2BE0B-2D2B-9B7D-EE27-A428C8F61630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61462CE-CD61-BB1D-E788-EA2CEC31A41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1D064723-68E7-5F49-FCFA-9BFD2BCA668F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7C9B3259-4624-DEBE-B259-9F52A61B0357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9431AD8-6EBE-28E7-14DD-DB8E99F930B5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DD42433-2CF9-CD84-D492-7CDB72BD3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91828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08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Convolutional Networks with Adaptive Inference Graphs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Andreas Veit &amp; Serge Belongie | </a:t>
                      </a:r>
                      <a:r>
                        <a:rPr lang="en-US" sz="1400" b="1" i="0" u="none" strike="noStrike" noProof="0"/>
                        <a:t>IJCV, 2020</a:t>
                      </a:r>
                      <a:r>
                        <a:rPr lang="en-US" sz="1400" b="0" i="0" u="none" strike="noStrike" noProof="0"/>
                        <a:t> | </a:t>
                      </a:r>
                      <a:r>
                        <a:rPr lang="en-US" sz="1400" b="1" i="0" u="none" strike="noStrike" noProof="0"/>
                        <a:t>DOI: 10.1007/s11263-019-01190-4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Reduces unnecessary computation; learns different inference paths for different inputs; demonstrates adaptive network topology.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F1B68FE-6A29-C7F4-11D3-5CA6778A912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62815FD-0C24-8DDF-C776-CC708DC15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399219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/>
                        <a:t>Optimizes computational efficiency rather than training stability; decisions depend on input characteristics rather than local dynamical behavior.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E585E30-1C42-FAE4-15DD-769A72389D3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2516F5F6-F425-DDD7-C970-BB11EBF7451D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42928D3-A3E8-9BC4-0EDF-18E73206B4B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20B2FC8-D866-0B23-C06C-4D6D6953E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27276"/>
              </p:ext>
            </p:extLst>
          </p:nvPr>
        </p:nvGraphicFramePr>
        <p:xfrm>
          <a:off x="10043414" y="3759822"/>
          <a:ext cx="2148585" cy="167640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Adaptive topology does not address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whether a residual block is dynamically stable or unstable during optimization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71C0080-9F8A-6F87-E203-68576D5F7CE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1614F2C-7DB1-53C0-F25F-4537031EE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451538"/>
              </p:ext>
            </p:extLst>
          </p:nvPr>
        </p:nvGraphicFramePr>
        <p:xfrm>
          <a:off x="5342179" y="3548085"/>
          <a:ext cx="1512062" cy="201168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Dynamically constructs input-dependent inference graphs by deciding which network layers need to be evaluated for each image.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207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4783-D22B-22F6-9C90-B32CCD4C7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5D7E84F-3075-5AE3-D605-A2CEBAE2C850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9594D05-3A8B-40C3-FE51-E42B8E6CD49E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50F3190-0F37-7AB4-BC9D-0E2C2D7688CA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ED195E2-B8F7-0954-A49F-4281FA69F577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30B34101-C1C2-D10A-BE2E-16F5EF28AED6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11F665F-F17D-AB19-B9FD-4BEA86F1C7FB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BDAABBF-E352-68D3-9AAF-4D282700F868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FEC4E39-8F09-7585-39D2-6298E2932434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559BAC9-1EA0-C0E6-60EC-85351205BCFC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6C6E95D-969E-E566-50A2-4E2A7047363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8EEAEB1B-85D1-9B04-DCC9-BB4740501CFC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329C7BA-292C-FE17-9991-1A25F7284BEB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184E55F-207C-816C-3367-9029F7F0CC1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06FCA53F-74A1-1CB6-EA4D-0089000860C3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AA861AD-2682-2386-01BD-5FE176E9DA5F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B12FAE7-B2AD-2320-11AC-02DEA564B0E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D6A5BA20-71EC-9F0D-A862-5C9E5C8764B7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A0388FF-3593-C453-B659-120FA1DB852D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1DB53C9-0830-26E1-DB65-9A90C6A8B990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67E5A6B2-3FE0-9222-6B8B-622B4A82BA58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593B6AD-DBBA-1211-34A6-EE3FCE8C4DCA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CE5C3F9C-9C67-9276-942A-EC94B5412602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34375178-EC2A-601C-E051-14E1DE0C6292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B8DEFFAB-1031-2674-1668-A65303716395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B330F89F-550E-26CA-376D-B136A24B69A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087FF2A7-9F7C-F357-EB1A-4549505D5C8C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46391BA-8A6B-2E19-D4AD-6B9C865F1552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F20AF4A4-5F25-B49B-1469-58B4D24AC3F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0502518E-1E80-984E-8AFE-BF078554CB08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C7D4ADD-117F-2204-22A4-B62A928B9467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5652FB4-0DCF-80A4-0497-4428973A3E26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B6C5DA9-FD3B-63B5-5256-F38FF9ECC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143172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09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Deep Networks with Stochastic Depth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Gao Huang, Yu Sun, Zhuang Liu, Daniel Sedra &amp; Kilian Q. Weinberger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ECCV, 2016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10.1007/978-3-319-46493-0_39</a:t>
                      </a:r>
                      <a:endParaRPr lang="en-US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Reduces training cost; improves optimization of very deep networks; enables successful training beyond 1200 layers.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F1C5073F-53E4-5036-AE9C-B2FDB5C0D5A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312A4F5-7572-F34B-8184-5E92B5E0F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986619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Layer selection is stochastic rather than stability-aware; does not continuously modulate shortcut strength according to network dynamics.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9921056-E3FF-A06C-E1EE-BF4BCCB3AB3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3A0D3A5A-2EF3-601E-BC98-EC1C37CFD759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38AD4C4-13B9-CEAA-BC8E-BC5358DCB7F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8B7E85EE-6687-4EE8-329C-28091A41D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164084"/>
              </p:ext>
            </p:extLst>
          </p:nvPr>
        </p:nvGraphicFramePr>
        <p:xfrm>
          <a:off x="10043414" y="3759822"/>
          <a:ext cx="2148585" cy="146304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Provides dynamic bypassing but no </a:t>
                      </a:r>
                      <a:r>
                        <a:rPr lang="en-US" sz="1400" b="1" i="0" u="none" strike="noStrike" noProof="0"/>
                        <a:t>measured stability criterion for deciding residual-path strength</a:t>
                      </a:r>
                      <a:r>
                        <a:rPr lang="en-US" sz="1400" b="0" i="0" u="none" strike="noStrike" noProof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F56C418-5624-B6E2-06E7-6B282E43276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068664E8-8DDD-28A1-64AD-F200D9FF8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135510"/>
              </p:ext>
            </p:extLst>
          </p:nvPr>
        </p:nvGraphicFramePr>
        <p:xfrm>
          <a:off x="5342179" y="3548085"/>
          <a:ext cx="1512062" cy="222504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Randomly drops residual layers during training and bypasses them through identity mappings, while using the full network during inference.</a:t>
                      </a:r>
                      <a:endParaRPr lang="en-US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081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9F1C2-AFE3-BF55-1C79-C0B2D423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00186A6-6137-87BC-A862-2CB36717D873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5FD8C75-6186-3DAD-3FAD-024833A5D295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C6448C3-ADB2-5340-CC44-71E4DE81A678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75A6D2E-A129-DF5C-9116-871AAF2772AC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411831D-79DF-19C5-D76D-C38E6461E6E5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525CA8E-109C-0035-E65D-4DB95550785D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020955F-B536-BE06-707D-3E8E72272975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E926E2C-48F0-B73B-FE7B-88567FB64F15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24A4634-DD78-6EC0-49D0-2E1611148F80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869BB3-99FF-A23B-8712-2B06E668B1E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E9710F6D-AC25-2D2B-D954-77A8B93B55FC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0AEC07A-C3B1-44B4-5199-91E3B21A0E1C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4B1E597-3F55-4B50-047E-AD3EFDC685CC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8D78A7A7-E728-E33D-B1A0-F00EAE736FE3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746C90E-5A3B-F09F-9C7E-6B8EADA3EE4F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0AE316F-DB00-44B3-5999-3217B77DD72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51682969-8301-593A-1C99-91C97BB8E19A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C89A391-3DC4-3A1E-8BA1-D21AB5A71803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B1EA3BC-AE4A-4DFE-5DFD-295754F9347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92A77271-3C62-FF06-0F9C-6304BD84D040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698D4A8-71FA-DC3A-2BAD-7D5095A760FF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BD3EE33-EFAC-2289-33DF-97FBCED8553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E8145C5E-C15A-1CEF-4FC5-804CA85404C3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0AF5F94-1D0A-E1C8-C81A-AA63C03A991A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1B74F3A-0619-B4A4-0844-293AB12110A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0753B98E-0310-C813-48CB-25277EF00EF9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DF2BE0B-2D2B-9B7D-EE27-A428C8F61630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61462CE-CD61-BB1D-E788-EA2CEC31A41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1D064723-68E7-5F49-FCFA-9BFD2BCA668F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7C9B3259-4624-DEBE-B259-9F52A61B0357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9431AD8-6EBE-28E7-14DD-DB8E99F930B5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DD42433-2CF9-CD84-D492-7CDB72BD3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602508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Lambda-Skip Connections: The Architectural Component That Prevents Rank Collapse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Federico Arangath Joseph, Jerome Sieber, Melanie N. Zeilinger &amp; Carmen Amo Alonso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ICLR, 2025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10.48550/arXiv.2410.10609</a:t>
                      </a:r>
                      <a:endParaRPr lang="en-US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Provides formal bounds for skip-strength selection; connects shortcut scaling with representation preservation and training stability.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F1B68FE-6A29-C7F4-11D3-5CA6778A912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62815FD-0C24-8DDF-C776-CC708DC15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813391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Focuses on rank collapse and provides essentially static/theoretical λ conditions; does not use a local Lyapunov signal for dynamic control.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E585E30-1C42-FAE4-15DD-769A72389D3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2516F5F6-F425-DDD7-C970-BB11EBF7451D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42928D3-A3E8-9BC4-0EDF-18E73206B4B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20B2FC8-D866-0B23-C06C-4D6D6953E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922865"/>
              </p:ext>
            </p:extLst>
          </p:nvPr>
        </p:nvGraphicFramePr>
        <p:xfrm>
          <a:off x="10043414" y="3759822"/>
          <a:ext cx="2148585" cy="210312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λ is analytically constrained but not dynamically controlled from measured local stability.</a:t>
                      </a:r>
                      <a:r>
                        <a:rPr lang="en-US"/>
                        <a:t> LyASC makes λ an adaptive stability-aware variable.</a:t>
                      </a:r>
                    </a:p>
                    <a:p>
                      <a:pPr lvl="0">
                        <a:buNone/>
                      </a:pP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71C0080-9F8A-6F87-E203-68576D5F7CE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1614F2C-7DB1-53C0-F25F-4537031EE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502618"/>
              </p:ext>
            </p:extLst>
          </p:nvPr>
        </p:nvGraphicFramePr>
        <p:xfrm>
          <a:off x="5342179" y="354808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Introduces parameterized λ-skip connections and derives analytical conditions under which skip strength prevents rank collapse in Transformers and State Space Models.</a:t>
                      </a:r>
                      <a:endParaRPr lang="en-US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144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9F1C2-AFE3-BF55-1C79-C0B2D423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00186A6-6137-87BC-A862-2CB36717D873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5FD8C75-6186-3DAD-3FAD-024833A5D295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C6448C3-ADB2-5340-CC44-71E4DE81A678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75A6D2E-A129-DF5C-9116-871AAF2772AC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411831D-79DF-19C5-D76D-C38E6461E6E5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525CA8E-109C-0035-E65D-4DB95550785D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020955F-B536-BE06-707D-3E8E72272975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E926E2C-48F0-B73B-FE7B-88567FB64F15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24A4634-DD78-6EC0-49D0-2E1611148F80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869BB3-99FF-A23B-8712-2B06E668B1E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E9710F6D-AC25-2D2B-D954-77A8B93B55FC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0AEC07A-C3B1-44B4-5199-91E3B21A0E1C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4B1E597-3F55-4B50-047E-AD3EFDC685CC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8D78A7A7-E728-E33D-B1A0-F00EAE736FE3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746C90E-5A3B-F09F-9C7E-6B8EADA3EE4F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0AE316F-DB00-44B3-5999-3217B77DD72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51682969-8301-593A-1C99-91C97BB8E19A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C89A391-3DC4-3A1E-8BA1-D21AB5A71803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B1EA3BC-AE4A-4DFE-5DFD-295754F9347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92A77271-3C62-FF06-0F9C-6304BD84D040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698D4A8-71FA-DC3A-2BAD-7D5095A760FF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BD3EE33-EFAC-2289-33DF-97FBCED8553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E8145C5E-C15A-1CEF-4FC5-804CA85404C3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0AF5F94-1D0A-E1C8-C81A-AA63C03A991A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1B74F3A-0619-B4A4-0844-293AB12110A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0753B98E-0310-C813-48CB-25277EF00EF9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DF2BE0B-2D2B-9B7D-EE27-A428C8F61630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61462CE-CD61-BB1D-E788-EA2CEC31A41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1D064723-68E7-5F49-FCFA-9BFD2BCA668F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7C9B3259-4624-DEBE-B259-9F52A61B0357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9431AD8-6EBE-28E7-14DD-DB8E99F930B5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DD42433-2CF9-CD84-D492-7CDB72BD3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902932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CosineGate: Semantic Dynamic Routing via Cosine Incompatibility in Residual Networks</a:t>
                      </a:r>
                      <a:endParaRPr lang="en-US">
                        <a:latin typeface="Arial"/>
                        <a:cs typeface="Arial"/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Yogeswar Reddy Thota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arXiv, 2025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10.48550/arXiv.2512.22206</a:t>
                      </a:r>
                      <a:endParaRPr lang="en-US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Provides a self-supervised routing signal; reduces FLOPs while maintaining competitive accuracy; represents a recent dynamic residual-routing approach.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F1B68FE-6A29-C7F4-11D3-5CA6778A912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62815FD-0C24-8DDF-C776-CC708DC15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502766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Uses feature geometry rather than training-dynamics stability; primarily targets computational efficiency and semantic redundancy.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E585E30-1C42-FAE4-15DD-769A72389D3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2516F5F6-F425-DDD7-C970-BB11EBF7451D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42928D3-A3E8-9BC4-0EDF-18E73206B4B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20B2FC8-D866-0B23-C06C-4D6D6953E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23988"/>
              </p:ext>
            </p:extLst>
          </p:nvPr>
        </p:nvGraphicFramePr>
        <p:xfrm>
          <a:off x="10043414" y="3759822"/>
          <a:ext cx="2148585" cy="167640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/>
                        <a:t>Closest architectural comparator.</a:t>
                      </a:r>
                      <a:r>
                        <a:rPr lang="en-US" sz="1400" b="0" i="0" u="none" strike="noStrike" noProof="0"/>
                        <a:t> It asks </a:t>
                      </a:r>
                      <a:r>
                        <a:rPr lang="en-US" sz="1400" b="0" i="1" u="none" strike="noStrike" noProof="0"/>
                        <a:t>“Is the residual useful?”</a:t>
                      </a:r>
                      <a:r>
                        <a:rPr lang="en-US" sz="1400" b="0" i="0" u="none" strike="noStrike" noProof="0"/>
                        <a:t>; LyASC asks </a:t>
                      </a:r>
                      <a:r>
                        <a:rPr lang="en-US" sz="1400" b="0" i="1" u="none" strike="noStrike" noProof="0"/>
                        <a:t>“Is the residual dynamics stable?”</a:t>
                      </a: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71C0080-9F8A-6F87-E203-68576D5F7CE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1614F2C-7DB1-53C0-F25F-4537031EE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872417"/>
              </p:ext>
            </p:extLst>
          </p:nvPr>
        </p:nvGraphicFramePr>
        <p:xfrm>
          <a:off x="5342179" y="354808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Computes cosine incompatibility between identity and residual features and uses a differentiable Gumbel-Softmax gate for per-sample, per-block residual routing.</a:t>
                      </a:r>
                      <a:endParaRPr lang="en-US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564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3A805-95C4-244C-A42F-5FB249C2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410BE3-105D-6427-7A1B-3FFA6161B9E7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9271060-4DC2-1940-58E9-A4B007A7B79A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2979ACC-DD36-5EE0-EA39-3CC8DAF6D321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F8A7219-240B-8067-8BBD-515EDFEF5568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DCE074CA-4B54-B330-51A2-523D51B6C506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28425EF0-5341-9603-CCDC-2F22E63F2F73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6D6D9D9-4C3C-E76C-BB3C-666B505B6266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74E021F3-9B37-5061-D7C3-4630C407591B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A70E993-EE35-FB44-1C23-5FF5A308F97F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0EB9D42-4244-7822-6506-B1B3BCBCB9F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F928D7DA-F3C4-CCB0-63A9-8261F2AA640F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760C6C7-4199-075D-F226-B05F9F6BC8A5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0834942-8874-461D-A8BE-09C1D6B463C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0B9EFBC7-7044-2FE3-C5CA-B8D790818F76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111462A-A90C-1E01-F3F4-97D78F35BD30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144B647-C3A7-93D2-3463-A269CA185E9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1302D992-5CD1-E042-0C48-4EEFA86FB0BB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2620600-9C19-5D53-B036-0BCE9C55595B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F4A7BB5-BD6D-9F02-3613-F7BE2411D4C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E30AC75F-B516-9E62-6008-D7D672224261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19CEAA-F1E2-D4AF-7106-49E6AF82DB06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A7F5D7F6-10D2-1E64-962A-FD0C795F67A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D4238C1B-0834-89CB-C8F9-3A129E025A85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D49260D0-26E8-7F53-970E-C247B245A074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EEFE6C3-4A3A-9132-600E-B1B1DFD0EFD6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7B447747-9EB7-809E-D4BF-160212688BD2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B29262-BAAD-6162-84C0-D85D68CDF449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5C79472-895A-BB2C-2BFC-D32CF8B0632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48B3CFB2-AF76-885E-F642-228A7EE87221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E43DBF0-800F-E195-539F-C1AB2C82BA6A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53417AF6-39B8-A209-488B-F8B4EFFB8472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EE2D6426-72B1-98A2-D762-13E291DF1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843590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Residual Networks: Lyapunov Stability and Convex Decomposition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Kamil Nar &amp; Shankar Sastry | </a:t>
                      </a:r>
                      <a:r>
                        <a:rPr lang="en-US" sz="1400" b="1" i="0" u="none" strike="noStrike" noProof="0" err="1">
                          <a:latin typeface="Arial"/>
                          <a:cs typeface="Arial"/>
                        </a:rPr>
                        <a:t>arXiv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, 2018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10.48550/arXiv.1803.08203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Establishes a formal connection between </a:t>
                      </a:r>
                      <a:r>
                        <a:rPr lang="en-US" err="1"/>
                        <a:t>ResNets</a:t>
                      </a:r>
                      <a:r>
                        <a:rPr lang="en-US"/>
                        <a:t> and Lyapunov stability; provides theoretical insight into stable gradient-descent dynamics and generalization.</a:t>
                      </a:r>
                    </a:p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B0588B3-753C-3B9B-C561-B919E2EECC0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04405F7-7426-F7D9-D4C8-DA795910E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343607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Primarily theoretical; Lyapunov stability is used for analysis rather than as an online architectural control signal.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A94AC82-64ED-B011-051D-9905FA0BAB4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70785A2-4FED-603A-167C-B5C9DC953F52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8506C999-8ECC-EC90-B0CE-BFC08BCCC09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D36A7EFF-9E4E-3F29-D0EA-321342C9E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647877"/>
              </p:ext>
            </p:extLst>
          </p:nvPr>
        </p:nvGraphicFramePr>
        <p:xfrm>
          <a:off x="10043414" y="3759822"/>
          <a:ext cx="2148585" cy="146304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Lyapunov theory is applied to understand ResNet stability, but not to dynamically regulate each residual shortcut.</a:t>
                      </a:r>
                      <a:r>
                        <a:rPr lang="en-US" sz="1400" b="0" i="0" u="none" strike="noStrike" noProof="0"/>
                        <a:t>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0F0CAC1-B5B2-09F0-1E4D-14CEE08ACC7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49B66E27-1DA7-9F47-28FE-B41EB0A36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049891"/>
              </p:ext>
            </p:extLst>
          </p:nvPr>
        </p:nvGraphicFramePr>
        <p:xfrm>
          <a:off x="5342179" y="318232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Analyses residual-network training using dynamical-systems and Lyapunov-stability concepts and develops a convex/concave residual decomposition architecture.</a:t>
                      </a:r>
                      <a:endParaRPr lang="en-US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006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08070-6FED-AE8F-EA84-405110B23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88B25A7-AF24-3F1B-6E5F-A22FDA881088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5587669-5362-85B4-D0D5-DF33A4330FF8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D3B954B-B1EA-E4DD-681B-B921A74E2939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3F8435D-7DD8-ADB3-473D-502503BB5781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69BE168A-CB34-62D5-5B97-80BB0E430895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09C68B73-013D-5EE5-EF46-A71BB6D2D64F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FFB84AE-679D-FF8F-3BEE-6F4A99EC744D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B70F868F-AD88-78D2-458C-35990F965606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341F9FD-89AC-3E2B-6650-BD27D4698AD9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3CA10C2-E1C0-E664-45C8-4293A43660C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BA536D09-BCF7-F441-9A66-CC72AB9CBF4B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38681CD-309A-5FF3-B4A0-4FB6566FD012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70ABFCB-01A4-3906-B4DD-F598E8C097A2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A258D37A-4621-96CF-ADB0-30FF66CDE7AC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282CCA1-96F7-E070-20C1-33C3B63C16C3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A477EF4-8DF6-4680-C513-4178B05B1652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DB91D83E-C5E6-8671-DD17-C0D98162C50E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C623086-47B6-04A6-4C29-D7EA24D92131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1AD4EA3-72F6-7290-1813-A05B45C90ED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7A4405FF-B0B8-8412-6DCD-C8A36721EDE9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99C1E3C6-0265-5AC0-AFDF-AA380E06696B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89726A8-DAF2-51B6-6668-8C791F01FB5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7E9CD364-9432-D70A-2565-82F48AA80EF3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241A627-2693-9FBE-E54C-CA1423421249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1FF38209-B22D-4A3C-AE24-372D1FB9D71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5E21EF90-A742-EB58-546B-4B28BE2B9EF9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80A3E1C1-1F81-2BF8-F56B-76ECBC55C8D7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149DC22-8565-1E11-C1DA-4E6E814DF06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B875B018-D80E-9073-ED45-2B3DD5A47AF1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B57DFBA4-26FD-0284-C322-54DAF2D29CCB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54BBFE6F-4E5C-0576-CC43-F7CF64C5554B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95C75C97-7A1F-064A-DB4D-AB4DF73CC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521586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Gradient Descent on Neural Networks Typically Occurs at the Edge of Stability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Jeremy M. Cohen, Simran Kaur, Yuanzhi Li, J. Zico Kolter &amp; Ameet Talwalkar | </a:t>
                      </a:r>
                      <a:r>
                        <a:rPr lang="en-US" b="1"/>
                        <a:t>ICLR, 2021</a:t>
                      </a:r>
                      <a:r>
                        <a:rPr lang="en-US"/>
                        <a:t> | </a:t>
                      </a:r>
                      <a:r>
                        <a:rPr lang="en-US" b="1"/>
                        <a:t>DOI: 10.48550/arXiv.2103.00065</a:t>
                      </a:r>
                      <a:endParaRPr lang="en-US"/>
                    </a:p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1400" b="1" i="0" u="none" strike="noStrike" noProof="0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Establishes Edge-of-Stability as an important training regime; provides a measurable connection between curvature and optimization dynamics.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0CB399CD-EEBB-AB7B-ACC6-3011AA70781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53FF0B6-66C5-14F0-A152-EA5EB206B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526018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Focuses on global training sharpness rather than individual residual blocks; does not modify network architecture based on stability.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/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9DBFF32-B7AA-A257-5CDF-D113B471BD6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57E3EDDB-6A26-AEC1-B015-16754958D1F4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676C38A-FB48-A1D5-AF4A-A2E57F173E6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B9A03A9F-69BF-026B-BB0C-50462F5DE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379035"/>
              </p:ext>
            </p:extLst>
          </p:nvPr>
        </p:nvGraphicFramePr>
        <p:xfrm>
          <a:off x="10043414" y="3759822"/>
          <a:ext cx="2148585" cy="167640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Provides a stability diagnostic but not </a:t>
                      </a:r>
                      <a:r>
                        <a:rPr lang="en-US" b="1"/>
                        <a:t>block-wise stability-aware architectural control</a:t>
                      </a:r>
                      <a:r>
                        <a:rPr lang="en-US"/>
                        <a:t>, which is the target of LyASC.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AC53C55-3FAE-3BB0-64D1-4913B5D61B2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07AFCE01-7EBF-94F8-AF13-BC77E1677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154319"/>
              </p:ext>
            </p:extLst>
          </p:nvPr>
        </p:nvGraphicFramePr>
        <p:xfrm>
          <a:off x="5342179" y="3548085"/>
          <a:ext cx="1512062" cy="243840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Studies training dynamics of full-batch gradient descent and observes that the maximum Hessian eigenvalue often approaches the stability threshold 2/η.</a:t>
                      </a:r>
                      <a:endParaRPr lang="en-US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262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6819A-92FB-335D-5734-3505A69E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E196C8F-F13F-B1C3-56DB-D6F4EDF9DFBE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42F839-16AC-A0CB-7521-C33E4C54F4E7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9597475-2AB9-0349-BA36-9913E48BB653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7ABA494-EAE6-1505-2545-78FA71C9BD32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6FE308CC-4CEB-E343-CCCA-460CDE4CA5DE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FF7A304B-F3F1-E152-655C-AEC411B00B01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E420260-4ADD-E325-57E8-915676DE93E1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ADC7989-4D1C-F847-92F5-E745B2D44777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A4A577C-2685-E1A9-C30A-F13D4C1BCCC9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9476852-08EE-8CDA-C992-D462BB39032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6BB5D401-1D74-4F7E-40A0-D515CA34114F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5EE67BD-5059-449A-B37F-5337589E1497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19507DA-2CC4-5AAF-9047-0F7E7141D78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68E63A77-3BAE-E441-ACBB-AE0FB3FF944E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E0BD139-0FC0-16B4-183B-3F27D3AAB81A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5FF2CDF-2D47-ADF0-D1A1-AAEAD1D29B0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6238F103-4469-0BE1-ECE3-85E542AD8662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C4E9FA7-0532-B53A-69CB-E14630165132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0AA17073-3C6C-CB53-2580-5380E268B58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D58E2CC1-8458-0B48-0AC5-A72C2CC13143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D746035-35EF-765F-C84F-DA66DA4A238B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EA16002-B81E-2BBE-EE63-B5B4CDCD79A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63B46455-2DCA-DCF5-D0BA-4C690D9C3AA4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15547C7-37EF-61FC-AF19-C616D88A73B1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73A06F2-CA1C-FD69-C2C4-5F1C9CBA21C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3B074850-709E-4FA3-87EC-3396BADE9931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3E053E1C-4F67-2D77-ADE1-DEA01279FCB3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C5D97C2-D51F-4981-9DFA-3868BC66A83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9311A541-5FEB-A2B0-02EC-BEBDB731308D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573CE79-8B64-3E33-85CE-EE051C203363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1DA64D-4ECC-77B4-264E-0BAC3F606695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C3CBD1C7-CE4F-9959-0FD2-F02C3CFA3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128490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14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Understanding Gradient Descent on the Edge of Stability in Deep Learning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Sanjeev Arora, Zhiyuan Li &amp; Abhishek Panigrahi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ICML, 2022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10.48550/arXiv.2205.09745</a:t>
                      </a:r>
                      <a:endParaRPr lang="en-US"/>
                    </a:p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endParaRPr sz="1400" b="1" i="0" u="none" strike="noStrike" noProof="0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Strengthens theoretical understanding of stability boundaries; explains implicit regularization mechanisms associated with Edge-of-Stability training.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D2BB594-1547-6DBB-198E-4C509DA8C7A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0CD5998-A873-4744-EF28-09CF80ED5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823437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Analyses optimizer dynamics rather than residual architecture; does not provide an adaptive shortcut mechanism.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/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3DAE8419-B032-1BDE-BDFD-0E594A5E2F1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CF71D0C-3101-DF3F-0141-66AD4BC3B94C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FED7641-ED21-B73D-63B5-614671BC504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69217AC-3D36-4C4E-54D9-F01792E90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224097"/>
              </p:ext>
            </p:extLst>
          </p:nvPr>
        </p:nvGraphicFramePr>
        <p:xfrm>
          <a:off x="10043414" y="3759822"/>
          <a:ext cx="2148585" cy="188976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Stability is characterized globally in optimization, leaving an opportunity for </a:t>
                      </a:r>
                      <a:r>
                        <a:rPr lang="en-US" b="1"/>
                        <a:t>local block-level stability sensing and control</a:t>
                      </a:r>
                      <a:r>
                        <a:rPr lang="en-US"/>
                        <a:t>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AA464719-5CF0-1AAD-E8DD-E04A1C552DC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2CE246CC-51AF-A18B-6168-2F481D4B1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824479"/>
              </p:ext>
            </p:extLst>
          </p:nvPr>
        </p:nvGraphicFramePr>
        <p:xfrm>
          <a:off x="5342179" y="3548085"/>
          <a:ext cx="1512062" cy="265176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Provides a mathematical analysis of Edge-of-Stability dynamics and studies how gradient descent evolves along low-loss manifolds under high-curvature conditions.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42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9B2A1-17C4-5B95-F1A9-CF48B6E5E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F6A6357-C083-899E-B208-F914053DA5A4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4D7F36E-5B27-49C2-3DD8-415E0C2291A1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9853629-2465-18D4-1549-CF4BB3C60D33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42FC0E2-D66A-522E-6D81-49ECED4D27B0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38DCA7F7-8D70-83FC-CB40-8B1902E2903D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55E3574-5091-3802-4947-E1ECEE943C75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60C478-7002-7CC7-7626-CCCE4D33693A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3BEDC6AE-AE61-2DD9-512B-DC9C8DAF6B2A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0DAF9CB-2A21-BE1F-45F8-35D89A8DB246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72E6F7D-F6AB-CE54-E0E5-629C463D457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B684EEBF-FDF6-C00A-421D-7D600F069534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AAEF1CA-34E3-F279-850A-3B8E711DE843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73BC2EB-B85E-A350-0651-FC02C2C88596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F496D942-8A99-C09B-B5E6-558775FAE814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2BC91FD-8293-4928-938C-B2EDBC05EEB5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002799D-BD47-BB44-773A-57977F5A377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F060DA28-8CB2-7D09-0A7E-135998FF0440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5CDE140-7772-0910-303B-51EF59D1FEC2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0E65B31-D90E-76D7-E68A-B5A6296B9E5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015547C5-A1E2-E5B5-504F-AFAE717FCD9D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957E130-51A6-1D1F-97F1-760444A8F5DD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8BF65FE-C44A-348F-E65D-B7617FAEE74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A77E5415-26F5-F155-1FF5-5AA45CCF41C1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B4C4DCF6-C32F-F6B7-8C60-DE6671E6CBE0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96AFB42-3BE2-0C7B-851E-A7BE5D8F398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6EF7353A-C9DA-CF75-C0A6-3A9BD4868596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376CA0E-3E81-384B-0383-F3B8DF09D315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3FBEE5C-8DE3-8F06-71ED-33D42B4E8F6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3E83C1F1-5B0B-B189-6AA4-68C00A3A4C4C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64B60B90-2F5B-E54E-AE5C-4A3FC1683B91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600CF18-99C9-CC8B-D8D0-8FBB28BDEC3D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11EEF850-F003-9928-A8CD-06DFD0C7F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64653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Self-Stabilization: The Implicit Bias of Gradient Descent at the Edge of Stability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O"/>
                        <a:t>Alex Damian, Eshaan Nichani &amp; Jason D. Lee | </a:t>
                      </a:r>
                      <a:r>
                        <a:rPr lang="en-IO" b="1"/>
                        <a:t>ICLR, 2023</a:t>
                      </a:r>
                      <a:r>
                        <a:rPr lang="en-IO"/>
                        <a:t> | </a:t>
                      </a:r>
                      <a:r>
                        <a:rPr lang="en-IO" b="1"/>
                        <a:t>DOI: 10.48550/arXiv.2209.15594</a:t>
                      </a:r>
                      <a:endParaRPr sz="1400" b="1" i="0" u="none" strike="noStrike" noProof="0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Explains why training can remain effective despite temporary instability; connects curvature dynamics with implicit regularization.</a:t>
                      </a: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9E5C08EA-B596-9F49-2E15-41FC8C67772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5A81E20C-16A3-09F1-C450-1CBC5C75E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269345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O"/>
                        <a:t>Stability is an emergent optimizer phenomenon rather than an explicit architectural control mechanism.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94D8278-E23F-1EC5-F32C-B2D00B6B7B4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AE23818B-E5BA-C3BC-243A-9961D9EAF809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7EE7A39-E7F6-E3BE-3C29-053342EDC88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33AE4873-EC45-7AFA-CB3C-0773A3C93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207144"/>
              </p:ext>
            </p:extLst>
          </p:nvPr>
        </p:nvGraphicFramePr>
        <p:xfrm>
          <a:off x="10043414" y="3759822"/>
          <a:ext cx="2148585" cy="188976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Demonstrates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self-stabilization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, but does not actively use a stability measurement to regulate residual shortcut strength.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CCF4C37-C646-7160-2959-F0C3E2BB217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9F9D505D-3294-9A25-E856-10C92E3DB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429878"/>
              </p:ext>
            </p:extLst>
          </p:nvPr>
        </p:nvGraphicFramePr>
        <p:xfrm>
          <a:off x="5342179" y="354808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O"/>
                        <a:t>Analyses how gradient descent near the stability boundary naturally reduces curvature and exhibits self-stabilizing </a:t>
                      </a:r>
                      <a:r>
                        <a:rPr lang="en-IO" err="1"/>
                        <a:t>behavior</a:t>
                      </a:r>
                      <a:r>
                        <a:rPr lang="en-IO"/>
                        <a:t> using local Taylor/Hessian analysis.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007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DF1A-6591-BE5E-9856-5D4406CE3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AB0E9B8-713C-8F7A-5E40-6E8CEE11CB10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217B29-0796-CFF6-CC2E-67502D222F58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23B88D2-E9DB-74A4-2DF7-4228F361CDFE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03B229B-6DFD-0F26-4EB9-33AB7C0BF1AD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AA17006-E972-A4AA-D2AA-E7F5E8825DF6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B7E0503F-4999-6738-22A4-B63BC3838DC9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982C84E-3FBE-939A-ED75-FB5F2F1F669C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917A11A-F485-E9E9-F883-66C5E27B62A5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D2B8296-215C-BAD1-9CB5-8E2461B812FD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755DFB8-4616-0C19-99D8-C07D5633D37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4183B31C-872E-006E-F6AD-44035B9C0C2C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E09858D-3F6C-1FD2-C889-3A8A716EFAD3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CF627A1-FD5D-A1E5-019E-2631A9F0BEA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931578E5-14C2-F283-35C3-B8746F166D0A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74A57BE3-BC9F-4465-BBF5-7B69611F53E3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EABC47A-2D71-7188-627C-7366336918F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DC87ADB1-A732-B58C-AF44-C6A07ABA4A38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A0D84C1-4F8A-E202-0BAE-02D4045D471B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3B33909-0288-44C5-30B6-DAF1C73AF1E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716A255C-B451-E004-B564-5B8F094BA655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E8849ABB-7720-180D-DC29-17B07885A3AF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AFE81896-7858-9D16-3205-C2E953EFA38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2EE90726-CCC2-FDA1-462E-B91A62709587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AC2BE8D5-4A79-18B3-FE80-5276771DA7E7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091C9C-5CE3-B0A1-16EE-D121981DC3C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87528798-F1C3-2775-B25C-9F6A5D32D4FF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CD00665C-3554-08DE-FB58-8FC4392656E7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0642DE47-2314-3DED-0A81-223EF164C766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C96DF92B-4FAA-2C2C-7317-3719E65281B3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41E2DA5C-4760-ED8F-95A4-F3FFE1716339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EC475B3-9C7E-719C-7D82-B44F800F4AEC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BCD02759-FEE3-CE6D-DF1C-1C78FB771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630541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Edge of Stochastic Stability: Revisiting the Edge of Stability for SGD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O"/>
                        <a:t>Arseniy Andreyev &amp; Pierfrancesco </a:t>
                      </a:r>
                      <a:r>
                        <a:rPr lang="en-IO" err="1"/>
                        <a:t>Beneventano</a:t>
                      </a:r>
                      <a:r>
                        <a:rPr lang="en-IO"/>
                        <a:t> | </a:t>
                      </a:r>
                      <a:r>
                        <a:rPr lang="en-IO" b="1" err="1"/>
                        <a:t>arXiv</a:t>
                      </a:r>
                      <a:r>
                        <a:rPr lang="en-IO" b="1"/>
                        <a:t>, 2024/25</a:t>
                      </a:r>
                      <a:r>
                        <a:rPr lang="en-IO"/>
                        <a:t> | </a:t>
                      </a:r>
                      <a:r>
                        <a:rPr lang="en-IO" b="1"/>
                        <a:t>DOI: 10.48550/arXiv.2412.20553</a:t>
                      </a:r>
                      <a:endParaRPr sz="1400" b="1" i="0" u="none" strike="noStrike" noProof="0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Extends stability analysis from full-batch GD to realistic SGD; highly relevant to noisy mini-batch training dynamics.</a:t>
                      </a: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0473265-DBD5-34B4-EE46-DFCFDFE4E4C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82E4B11-BC73-8707-99D7-E385259BA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85029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O"/>
                        <a:t>Focuses on optimizer-level stochastic stability; does not modify residual architecture or introduce block-wise shortcut control.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D5EE537-53EB-F021-BFF6-190229344DC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2EB9818B-CD3A-E1E1-8F29-0B97E698DD9A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127C75D-BD24-A86A-0F82-E14FBF9D4D0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2DFAB42A-8F01-1626-BD24-4C52AD879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483215"/>
              </p:ext>
            </p:extLst>
          </p:nvPr>
        </p:nvGraphicFramePr>
        <p:xfrm>
          <a:off x="10043414" y="3759822"/>
          <a:ext cx="2148585" cy="210312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Establishes stochastic stability dynamics but leaves open </a:t>
                      </a:r>
                      <a:r>
                        <a:rPr lang="en-US" b="1"/>
                        <a:t>how local stability information can be used to actively control network architecture</a:t>
                      </a:r>
                      <a:r>
                        <a:rPr lang="en-US"/>
                        <a:t>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0162640-C39F-A921-BEEC-031AB32DD98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5A152C8A-23FB-20BA-0640-AE2DD681A168}"/>
              </a:ext>
            </a:extLst>
          </p:cNvPr>
          <p:cNvGraphicFramePr>
            <a:graphicFrameLocks noGrp="1"/>
          </p:cNvGraphicFramePr>
          <p:nvPr/>
        </p:nvGraphicFramePr>
        <p:xfrm>
          <a:off x="5342179" y="354808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O"/>
                        <a:t>Analyses how gradient descent near the stability boundary naturally reduces curvature and exhibits self-stabilizing </a:t>
                      </a:r>
                      <a:r>
                        <a:rPr lang="en-IO" err="1"/>
                        <a:t>behavior</a:t>
                      </a:r>
                      <a:r>
                        <a:rPr lang="en-IO"/>
                        <a:t> using local Taylor/Hessian analysis.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350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8D135-B715-6A8B-BC82-EA92142B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D13C035-ACDD-F711-C33C-0905E6267CD9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86D9CDB-F988-2D85-66E6-16C823ABBEB6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43F9B05-6E1A-7B3D-3C78-8EF7A358A5BD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455B846-8E70-0388-2618-4EBD8FEC5728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DC402595-A379-5F61-8F9E-BDCA5A97F247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EEC3C3C-F217-3104-15AA-28B5DAE9834C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15609E9-679E-7FB3-3461-72F099C3B6CE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0E3591A-2E4C-89BE-BA26-6EECA424AEDC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9E822CF-5A61-9771-C903-891D41C6B735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30149CA-8898-700D-9E6D-07C507E8944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A1163D6C-8B52-C5F8-D25C-835D921E98C8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923BFB7-A573-1E83-0D6E-C0E0B74B01BF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7487220-ACBB-39AD-1281-D9E6E47DAB2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6A41AE63-E53F-C5DF-0275-789894145498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33C1D14F-0228-6467-2FD6-45C56F2DC39B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82B323F-97A0-0753-4C45-879A2DA9353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88D7F338-FFA0-EC0B-FEB7-9E078008C5D8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A779B28-7F1F-8A4C-9E8B-30D46793F009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E944F34-B625-C22A-18DC-66F08E50EC6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F44E1263-9616-3B8A-B799-4F326D2E1081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0D8FFFA-43EB-7788-2FA0-7998084C3110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CDEE1866-B3BF-EE91-26D1-334892566B8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6418A481-D6E6-89F5-803D-28F2872A1BBA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FCB44D11-E335-8C0C-306D-A6FE2A30A3B0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DF0DFC7-646C-7BFF-1794-C1831185ACF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421793B7-62D1-8085-F9D4-B0F6BDA53124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99667B6-8DE3-5ABE-FC2E-2ADA5554F0B3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C9A732D-A1B2-1951-5BEB-C69AA1E6B00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B57D50FB-6DE9-C195-261B-643BE068E3E9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F06C05FB-EC9A-91F7-9D52-03AB32740BD2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D339856-A408-45F5-5902-700679DDA09D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DC249603-A562-704E-A6CA-B642EFED9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955881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17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Utilizing Lyapunov Exponents in Designing Deep Neural Networks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O"/>
                        <a:t>Tirthankar Mittra | </a:t>
                      </a:r>
                      <a:r>
                        <a:rPr lang="en-IO" b="1" err="1"/>
                        <a:t>arXiv</a:t>
                      </a:r>
                      <a:r>
                        <a:rPr lang="en-IO" b="1"/>
                        <a:t>, 2024</a:t>
                      </a:r>
                      <a:r>
                        <a:rPr lang="en-IO"/>
                        <a:t> | </a:t>
                      </a:r>
                      <a:r>
                        <a:rPr lang="en-IO" b="1"/>
                        <a:t>DOI: 10.48550/arXiv.2410.05988</a:t>
                      </a:r>
                      <a:endParaRPr sz="1400" b="1" i="0" u="none" strike="noStrike" noProof="0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Directly demonstrates that Lyapunov exponents can characterize training dynamics; links negative exponents with improved convergence </a:t>
                      </a:r>
                      <a:r>
                        <a:rPr lang="en-IO" err="1"/>
                        <a:t>behavior</a:t>
                      </a:r>
                      <a:r>
                        <a:rPr lang="en-IO"/>
                        <a:t>.</a:t>
                      </a: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F188FF5-3AC1-4188-ABF2-A4D98FA8E11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3B70FBC-85DD-E5C8-216E-390D401C2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336110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Uses Lyapunov information primarily for hyperparameter/initialization selection; does not control residual architecture during training.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44BECE8-A629-76F4-3397-B2CEC8D9880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AD410BD3-3B2C-F336-124F-6BAD5F947D6A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BB0265C-2EE5-BA39-099D-0819FA918A3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7308D3A-F831-1488-65A2-5BEB2DAA0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432232"/>
              </p:ext>
            </p:extLst>
          </p:nvPr>
        </p:nvGraphicFramePr>
        <p:xfrm>
          <a:off x="10043414" y="3759822"/>
          <a:ext cx="2148585" cy="188976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Diagnostic Lyapunov analysis exists, but Lyapunov-driven residual skip control remains unexplored.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E47F44C-E5DC-DEA2-A737-38E1FB7009D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119A8133-E929-CCCE-C9E0-7A158FE8F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866211"/>
              </p:ext>
            </p:extLst>
          </p:nvPr>
        </p:nvGraphicFramePr>
        <p:xfrm>
          <a:off x="5342179" y="3548085"/>
          <a:ext cx="1512062" cy="265176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O"/>
                        <a:t>Computes Lyapunov exponents during gradient-descent training under different learning rates, activations and initializations to relate stability indicators with convergence.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992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D3EE-2137-8DAA-7A62-5EEA993D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48724B-D4C0-8EDC-7FD3-31A69DAA57CB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30973CE-8250-07B6-54DF-AF974A56B357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DA20796-C09E-42D9-E1FF-D6CD43EEC7B3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228C2C6-0A1F-A803-14CA-651C47506FFB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64A89EAE-9805-5A37-9B77-65F41F264C30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B5C9A4DD-DD3F-9EE7-9FD5-0ED23D937AC5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7FD2320-DFC7-A73D-A0EF-DD77C523B801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EB26757-6BC6-0EA4-A931-2407E1F0BA07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25929CE-7368-34CA-893E-DB03820C58B3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950B5CE-D899-7945-2CD4-B5A956C7611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B5BA4653-5102-4987-BCCC-75064B6B3160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0E46E6D-E97E-6495-4047-2B2BA1F7A3E9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C765907-7787-DF5E-0C92-A2D4C9803B1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BD529F97-2B17-5950-22E6-DFC7B6E954DA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0A342D-5E46-A1D0-57BC-7DB7FDF2E1A1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E12080B-859F-717A-6D37-711AE814340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A7E64103-EA38-423E-32B1-4D214222BFFC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FEB4A84-48A0-51CD-9C1D-77F99C9A9A30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D40BF7-A154-FAFB-E7F8-B81A02CD8BA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871186FA-2215-53B5-BAF8-5C070E435E36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021E0FB-3381-C8F7-B000-5963F67AFDB7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04D01C9-DAC7-5A88-BAAE-44CB5A87DEF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E06EAAA3-CAFD-EA2F-01A0-62FE86E2ECAB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B39E376-8602-A20A-6FD4-CAB265F66EB9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4D02C749-41B0-DEB6-3094-94CA1526F2E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33BAFF4F-9963-2962-839B-1FFE6B1E0D9E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D4C570A-1CDF-8464-72D4-4765E1B5E499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35D7304-358D-0587-111B-05274EEC3080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6709D7EA-4583-F461-5932-C14BC462CDAB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68BCAB5-D7A4-5B15-3A8F-27C7D5EDC69F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C07C66AE-0E23-F252-C8EA-13B3E2BAB68C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FB04E4B2-F92D-E059-B650-8204848D9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324268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On the Weight Dynamics of Learning Networks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Nahal Sharafi, Christoph Martin &amp; Sarah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Hallerberg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 err="1">
                          <a:latin typeface="Arial"/>
                          <a:cs typeface="Arial"/>
                        </a:rPr>
                        <a:t>arXiv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, 2024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10.48550/arXiv.2405.00743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Provides a practical methodology for monitoring finite-time Lyapunov exponents; directly supports the feasibility of using Lyapunov indicators during training.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F5340AF5-3978-020F-5D24-A542688BE1A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C59AE5E-8E58-D8EB-BD8A-BDAF86008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379584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Demonstrates Lyapunov indicators mainly as diagnostic/predictive tools; experiments focus on feed-forward regression networks rather than residual architectures.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0E2A2A4-2DBB-A4F1-D541-B1828DE72EE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DEDB95F-1C79-6E7F-AAE9-8846FF43DE40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074A85D-4770-8939-00E3-4291F8922B4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9EACB8C2-C97D-82E1-D34B-D445012AB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853932"/>
              </p:ext>
            </p:extLst>
          </p:nvPr>
        </p:nvGraphicFramePr>
        <p:xfrm>
          <a:off x="10043414" y="3759822"/>
          <a:ext cx="2148585" cy="231648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Provides the </a:t>
                      </a:r>
                      <a:r>
                        <a:rPr lang="en-US" b="1"/>
                        <a:t>measurement methodology</a:t>
                      </a:r>
                      <a:r>
                        <a:rPr lang="en-US"/>
                        <a:t> that LyASC can transform into an </a:t>
                      </a:r>
                      <a:r>
                        <a:rPr lang="en-US" b="1"/>
                        <a:t>architectural control signal for residual blocks</a:t>
                      </a:r>
                      <a:r>
                        <a:rPr lang="en-US"/>
                        <a:t>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A2A6B9EF-E434-B687-F789-D0D6A37C336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F6319F38-06C9-5C4F-9337-56FDF8DFF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901767"/>
              </p:ext>
            </p:extLst>
          </p:nvPr>
        </p:nvGraphicFramePr>
        <p:xfrm>
          <a:off x="5342179" y="354808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Uses local stability analysis and tangent operators to study learning dynamics and demonstrates that finite-time Lyapunov exponents can correlate with final training loss.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481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05B4-89D5-BD54-437C-565725CBF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27B1D87-E11A-8CA1-8D3E-C6DA855CF8DA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0FDEB66-1940-9E8B-FB17-D6B007482E41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7A6DBAB-B51A-8B1B-CA7E-C80BDD37E737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A722C49-7EC0-070A-DC58-8CC8C8642444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329452A9-CEE6-64B3-6779-EE98AEA0D939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7C832527-23FD-A7C9-BCF7-6AA23B6F9F06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601E9A-3576-2DD6-8E72-5D1201A9AA2B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3B978E43-84D7-4649-BB24-CFF45E5A5AAC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C7AD5D3-6A25-693B-9273-D23C1F27431E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0BD867B-F76A-69FE-4C46-1F399D3C5B2C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1F6EB43D-655A-7844-12DD-C48414B2167A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47F2A39-ED67-8FB6-C016-C20C7783D66E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916A6C2-7F55-469C-93A7-B441983D515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FCF742F7-8431-F622-1ABD-5C81BBE67C57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B733BC7-5908-CBC3-D4F2-166764C981C2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A058BBD6-0349-1C7F-D49D-01C6981F910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3FEDC0F9-0B65-8F48-2802-607D29D5C7EF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0496B30-C4CE-0288-410A-43C457BE42F9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2F14542-8137-9EF6-C6DD-C3793F3C8C0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9CD52535-2CFE-2331-EB2E-4FB82B714B46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E27333C-2D94-DEC4-C47C-6B95279B1597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F3EC5DC-CE43-EF8A-D532-B5B3226F67A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1BAFA2F6-CC86-C73B-1E52-9B531167CF43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EA427A-A2FE-2654-774D-8283AEC1EE50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A1E18AE-4931-857D-180A-D0664B0D26B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77809B82-1BBC-E022-CE72-33DCD57C4C2D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147EC62B-A1E4-F601-5A5F-BF0153B687B3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5D6B290-1436-5704-6E3E-79531DB0AFE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D586B9CE-E581-16CB-2A8E-3C8769262653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92A423A9-1DE8-764A-798D-38A3FEAA6269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8D2AB492-D5BC-FC9A-9E54-A7612E85B406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1B87C2E4-A8A3-85DF-D252-43A2E63C9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18468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19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Norm-Preservation: Why Residual Networks Can Become Extremely Deep?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Alireza Zaeemzadeh, Nazanin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Rahnavard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&amp; Mubarak Shah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IEEE TPAMI, 2021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10.1109/TPAMI.2020.2990339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Provides theoretical explanation for stable gradient propagation; links skip connections with norm preservation; supports training extremely deep residual architectures.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33AAB7F-B7D7-CCFC-8603-968B155299E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A3F061DA-0AA7-C5B4-B6A8-78D0AC3B9029}"/>
              </a:ext>
            </a:extLst>
          </p:cNvPr>
          <p:cNvGraphicFramePr>
            <a:graphicFrameLocks noGrp="1"/>
          </p:cNvGraphicFramePr>
          <p:nvPr/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Focuses mainly on norm preservation rather than dynamically controlling shortcut strength; requires architectural/regularization modifications.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D38940A-8D4F-99EE-03A8-B711F323F44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22DAF4B0-55AE-6938-D192-714C2C47167A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C60556E6-5ABD-F2C3-FAE9-7DBF2E3FB2B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3CF2EDB8-3B2E-18FD-355F-02C7D50A5006}"/>
              </a:ext>
            </a:extLst>
          </p:cNvPr>
          <p:cNvGraphicFramePr>
            <a:graphicFrameLocks noGrp="1"/>
          </p:cNvGraphicFramePr>
          <p:nvPr/>
        </p:nvGraphicFramePr>
        <p:xfrm>
          <a:off x="10043414" y="3759822"/>
          <a:ext cx="2148585" cy="210312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Provides </a:t>
                      </a:r>
                      <a:r>
                        <a:rPr lang="en-US" sz="1400" b="1" i="0" u="none" strike="noStrike" noProof="0"/>
                        <a:t>stability evidence but not a stability-driven controller</a:t>
                      </a:r>
                      <a:r>
                        <a:rPr lang="en-US" sz="1400" b="0" i="0" u="none" strike="noStrike" noProof="0"/>
                        <a:t>. LyASC uses local stability measurements to adapt the residual shortcut itself.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180CC8A-0A97-E9F1-1179-81B59084275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9D12EE89-0957-C0CC-0279-8461E9A7A06E}"/>
              </a:ext>
            </a:extLst>
          </p:cNvPr>
          <p:cNvGraphicFramePr>
            <a:graphicFrameLocks noGrp="1"/>
          </p:cNvGraphicFramePr>
          <p:nvPr/>
        </p:nvGraphicFramePr>
        <p:xfrm>
          <a:off x="5332019" y="3111205"/>
          <a:ext cx="1512062" cy="307848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Theoretically analyses how identity shortcuts preserve gradient norms and investigates singular-value regularization to improve norm preservation in very deep residual networks.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5677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1F79D-219C-6EC5-988A-9E19A66E8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F350D0-4AE5-B228-95C9-03A19609AC47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472BADC-CCAD-7610-DE47-1CBCCE62CDD3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5D1676A-DA42-09A7-EF78-C8D565FBAF05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0C5F669-2EF7-5B20-1C30-D480E0615A33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927C0AF-8806-683C-92E2-195605BCD103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939CA7B-C362-043B-8B8B-52B72EB42C8E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7F612BE-71B3-CD05-8593-F3D32FA3DF9B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0D975BC1-675F-3EB7-FF7C-317D0FE11449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4230967-F7F9-EB9F-9C57-B6A5C4654D28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BDC62A1-E3BA-045C-A56A-F3F35F5E359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8B88F2A9-6EA4-9517-3AA9-3CBDC38ECD7D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8814803-7C88-2E7D-D8E0-E6D99F37335D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6AC9EF8-779E-BCEA-B9B5-4C28208F2FDC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E85CCE4-AE6A-77BD-BABF-767591B8F259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9ADFEB3-B065-C2CD-225B-29491B861B52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D365DEA-2846-1A85-BA72-FCC7DEA7C74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A70636A0-1960-CA6E-16C4-A6343868B183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4B81774-5E8A-FEC7-20C0-BB3005D2D811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9F4FD6A-3303-CCE3-CD1C-48BA92114D9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18C37214-5B8A-B8D3-1F20-81DD9BB6D201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B2A17F66-1D25-077A-CAD4-E3C62623234D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BC3C4815-A4E7-394E-2542-997797AE0BA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8441F0C7-D91E-A6E2-4B18-9C30608C3B54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2B78B014-65BA-ECBD-A733-1FEDE52A944C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E3C33FF-2DD9-2840-9B4C-81913621935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25C891D2-D981-CB07-0E89-1F2B7A67C075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BB91AB2-7BFD-C67D-314E-91FE9F763C0E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8859976-EC7D-46DF-53C2-01FE455837B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D9FE5F5D-7FBA-DA44-9FA2-B30B04680CB2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33F9B695-07D6-4041-9CDB-0A48646924FE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77CDB9A-CC09-BA71-25B7-B17A5DBB96E1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EFAECE1-6F35-F920-6F09-CD792ECF1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175510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Lambda-Skip Connections: The Architectural Component That Prevents Rank Collapse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Federico Arangath Joseph, Jerome Sieber, Melanie N. Zeilinger &amp; Carmen Amo Alonso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ICLR, 2025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10.48550/arXiv.2410.10609</a:t>
                      </a:r>
                      <a:endParaRPr lang="en-US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Provides formal bounds for skip-strength selection; connects shortcut scaling with representation preservation and training stability.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AA024B4-18FD-144F-99B6-6E0DE5761FB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6B7763-9227-7A00-17C4-5203CB92B4D4}"/>
              </a:ext>
            </a:extLst>
          </p:cNvPr>
          <p:cNvGraphicFramePr>
            <a:graphicFrameLocks noGrp="1"/>
          </p:cNvGraphicFramePr>
          <p:nvPr/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Focuses on rank collapse and provides essentially static/theoretical λ conditions; does not use a local Lyapunov signal for dynamic control.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3AAAC66-33CD-45B0-F5BE-35BF01E9550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C9F835B8-9A5E-8015-2CD1-378D4692B3CE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7C3EB1C-F849-1033-BA87-32BEDC8FBC2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FBB2CD91-6CDE-8D33-FE2C-CC4CF74DFE2B}"/>
              </a:ext>
            </a:extLst>
          </p:cNvPr>
          <p:cNvGraphicFramePr>
            <a:graphicFrameLocks noGrp="1"/>
          </p:cNvGraphicFramePr>
          <p:nvPr/>
        </p:nvGraphicFramePr>
        <p:xfrm>
          <a:off x="10043414" y="3759822"/>
          <a:ext cx="2148585" cy="210312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λ is analytically constrained but not dynamically controlled from measured local stability.</a:t>
                      </a:r>
                      <a:r>
                        <a:rPr lang="en-US"/>
                        <a:t> LyASC makes λ an adaptive stability-aware variable.</a:t>
                      </a:r>
                    </a:p>
                    <a:p>
                      <a:pPr lvl="0">
                        <a:buNone/>
                      </a:pP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02BDE432-27F0-835F-6A1B-7A8224AB439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513C5EF6-7E3F-D45E-9E7A-7AC7F8EF64B2}"/>
              </a:ext>
            </a:extLst>
          </p:cNvPr>
          <p:cNvGraphicFramePr>
            <a:graphicFrameLocks noGrp="1"/>
          </p:cNvGraphicFramePr>
          <p:nvPr/>
        </p:nvGraphicFramePr>
        <p:xfrm>
          <a:off x="5342179" y="354808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Introduces parameterized λ-skip connections and derives analytical conditions under which skip strength prevents rank collapse in Transformers and State Space Models.</a:t>
                      </a:r>
                      <a:endParaRPr lang="en-US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373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5D3F6-E943-64F2-80F3-EA0D35A24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2E2D-7F8D-F695-9FCA-A6F2D2EC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Gantt Chart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246974-9AD5-5F4D-AC9D-58D9ACA90A33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5EAF4D-80CD-A093-9886-134649EB2CC1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85B49ACC-364D-180B-DC43-7592E31ABA98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076D9F-EE0D-ECD9-6B7A-30D9829DC7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3376B95-D967-25C2-A745-CEF2932E567C}"/>
              </a:ext>
            </a:extLst>
          </p:cNvPr>
          <p:cNvSpPr/>
          <p:nvPr/>
        </p:nvSpPr>
        <p:spPr>
          <a:xfrm>
            <a:off x="-2" y="1157351"/>
            <a:ext cx="2386586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sz="1200" spc="-35">
              <a:solidFill>
                <a:schemeClr val="bg1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Project Title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Motivation and 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 of the Project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Analysis on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Insights from Base Paper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200" spc="-35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Research Gap</a:t>
            </a:r>
            <a:endParaRPr lang="en-IN" sz="12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Objectives, Scope of the Project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Architecture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Workflow Diagram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chemeClr val="bg1"/>
                </a:solidFill>
                <a:latin typeface="Cambria"/>
                <a:ea typeface="Cambria"/>
              </a:rPr>
              <a:t>Literature Review</a:t>
            </a:r>
          </a:p>
          <a:p>
            <a:pPr>
              <a:lnSpc>
                <a:spcPct val="200000"/>
              </a:lnSpc>
            </a:pPr>
            <a:r>
              <a:rPr lang="en-IN" sz="120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 (Gantt Chart)</a:t>
            </a:r>
          </a:p>
          <a:p>
            <a:pPr>
              <a:lnSpc>
                <a:spcPct val="250000"/>
              </a:lnSpc>
            </a:pPr>
            <a:endParaRPr lang="en-IN" sz="1200">
              <a:solidFill>
                <a:srgbClr val="A412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7BD60-4EBD-13D8-2694-AC54AFFACB56}"/>
              </a:ext>
            </a:extLst>
          </p:cNvPr>
          <p:cNvSpPr txBox="1"/>
          <p:nvPr/>
        </p:nvSpPr>
        <p:spPr>
          <a:xfrm>
            <a:off x="3256546" y="1308424"/>
            <a:ext cx="8365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latin typeface="Georgia" panose="02040502050405020303" pitchFamily="18" charset="0"/>
              </a:rPr>
              <a:t>Proposed Time Line For the Events in Project Phase 1</a:t>
            </a:r>
            <a:endParaRPr lang="en-IN" sz="1800">
              <a:latin typeface="Georgia" panose="0204050205040502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FF0EA-8EAA-7563-E5FE-AA3C204CE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857" y="1682895"/>
            <a:ext cx="7555921" cy="44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099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pc="13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cxnSp>
        <p:nvCxnSpPr>
          <p:cNvPr id="6" name="Google Shape;1729;p22"/>
          <p:cNvCxnSpPr/>
          <p:nvPr/>
        </p:nvCxnSpPr>
        <p:spPr>
          <a:xfrm>
            <a:off x="2462213" y="4057650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487B4"/>
      </a:accent1>
      <a:accent2>
        <a:srgbClr val="F0466E"/>
      </a:accent2>
      <a:accent3>
        <a:srgbClr val="B90F50"/>
      </a:accent3>
      <a:accent4>
        <a:srgbClr val="FFD264"/>
      </a:accent4>
      <a:accent5>
        <a:srgbClr val="0A3C4B"/>
      </a:accent5>
      <a:accent6>
        <a:srgbClr val="0AD7A0"/>
      </a:accent6>
      <a:hlink>
        <a:srgbClr val="FFC000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33</Slides>
  <Notes>19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Office Theme</vt:lpstr>
      <vt:lpstr>Custom Design</vt:lpstr>
      <vt:lpstr>Department  of  Computer Science &amp; Engineering </vt:lpstr>
      <vt:lpstr>Project Title</vt:lpstr>
      <vt:lpstr>Motivation and Problem Statement</vt:lpstr>
      <vt:lpstr>Significance of the Project</vt:lpstr>
      <vt:lpstr>Analysis on Base Paper</vt:lpstr>
      <vt:lpstr>Insights from Base Paper</vt:lpstr>
      <vt:lpstr>Research Gap</vt:lpstr>
      <vt:lpstr>Objectives, Scope of the Project</vt:lpstr>
      <vt:lpstr>Architecture Diagram</vt:lpstr>
      <vt:lpstr>Workflow Diagram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Gantt Chart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Birac Research Project</dc:creator>
  <cp:revision>64</cp:revision>
  <cp:lastPrinted>2026-01-19T04:09:44Z</cp:lastPrinted>
  <dcterms:created xsi:type="dcterms:W3CDTF">2026-01-19T04:09:44Z</dcterms:created>
  <dcterms:modified xsi:type="dcterms:W3CDTF">2026-08-25T03:57:23Z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7B93CCE2B59E7AF4D8AB6D691BDA5D7F_42</vt:lpwstr>
  </property>
  <property fmtid="{D5CDD505-2E9C-101B-9397-08002B2CF9AE}" pid="3" name="KSOProductBuildVer">
    <vt:lpwstr>1033-12.1.23152.23152</vt:lpwstr>
  </property>
</Properties>
</file>